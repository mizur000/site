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ACED3-C485-4F1D-A2DE-DFB9D5C58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47A647-3D11-46EF-9233-A9F73CA1D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9524A6-02BE-462F-91BC-C65C47D9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46FB7-A2A2-4BE3-AD46-8C1AD04E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AFB947-D1F1-4728-9DB6-2F410C51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54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CF7E5-237E-406A-BF8C-D89672F7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926386-6039-415E-94ED-9F0A891ED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005DB9-3A6F-47CE-B8C6-255796691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27E497-2A4B-42B3-A213-7E76F037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F4E221-8BD8-42BC-84CD-3EC31716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71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38DEA-B8CC-4A14-A0FF-C138B5E88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A91190-7D27-4E92-90C8-0B5250E09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5DC2CC-0400-416B-ADC2-323C914A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29270D-9E73-48E2-B45D-4B59D645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EE74B3-4087-409E-8427-0736B440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19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6BE39-C80A-4A6F-B0E2-4B81B6E9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BC76A9-A95A-483B-9C42-A19F1499D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9146BF-F73F-4A2E-8A56-F6FECB59C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2BBDCA-9E2A-4E02-8E5B-024699D6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796198-0146-4029-A1A6-4C8EDD0F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3ACEC3-2F56-46C8-B41B-0E04BCA9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67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9B270-20D1-4F0E-BDFB-4EF16037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59AF8B-C24C-4F07-A185-9150947C6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BFBD25-8DBF-4F99-B784-6B15CFF0E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C4AACA-3AC2-46E7-8482-DE500B3B7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62C9412-F866-4816-972A-56C0B1152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6A8E63-FA9B-4B6C-B2CB-36AAC54B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FE51AA-EE7E-4755-8AEA-F47C5793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87DEE4-603E-4BC9-BA8F-6803838B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92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003A6-5A45-46AD-BFE6-49D18DE2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BBD88E-663E-4F29-BDFD-FCCC0FD3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EECAB9C-4846-42F7-9D0D-CBE67D352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E1ED81-54D1-4515-BF04-337EB2F3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07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CBC28D-A7DC-46CE-BE4E-A12B19C7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779E96-DC05-4982-A8EA-D6E1CA07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2CCBCD-DC5F-41B0-A2CB-6949A0D9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1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FD679-7614-4181-8120-3CAA3B95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46CD28-B5DA-4426-9648-3EAD778B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195BA3-C9A9-403B-A5CF-DB8CA3127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0CC16E-3B3F-4C70-B738-FEF7EEDD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6BA138-6A1F-4B4D-846A-5FFE808C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E71D8B-DEE8-4322-B087-B3BCE19D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94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7803E-57E4-4FC3-948F-57B765ED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DA8848-4A73-4718-9FCA-43DF4A93A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9688EF-C2D1-45E9-B1CC-2E35DD0A1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BCB1E0-2512-4DE2-A772-B2CA039C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277A34-C8C8-43AC-87B6-1A35A155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5A44D6-4571-494D-973E-44679C74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99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C4153-1FB5-4EF5-8272-E27F2C1C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85A6F3-0D58-45D5-9C8F-7AA1FBA88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90B54C-9F7D-4652-ACCE-447CD19D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23464-5CE2-4E2D-ABDC-2ACA97F5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0BA784-D673-4A17-8514-2C3350BD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95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305CC1-7AF7-452D-91E4-47FB81DF5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9A6266-A3FF-4CB9-AF8B-85CB446AB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45BE87-24C5-4501-980F-8C538A82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B0224D-89B4-45C0-BB72-6D63C776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F14A44-3425-464C-931B-9F5B0834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29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682AC-8B69-40F6-8A1F-A6ED5964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EAA44E-CF9C-42D8-BDAC-30A476833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290342-97C6-48B8-A79B-6C45C80A98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3CB10-6247-41CB-9906-01EDA7E0A4A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639C00-C4AA-4360-93A1-CFCB4073F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6966B4-6551-4E8C-96BD-04C855238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C1B93-E2B4-4148-8E32-1E3B8344AC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76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62343-A486-457F-A49A-FFD6590FD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latin typeface="Arial Black" panose="020B0A04020102020204" pitchFamily="34" charset="0"/>
              </a:rPr>
              <a:t>Гипервизор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CD87B4-1550-4B9F-8CD1-F1BF27FEB9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И их виды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41FF14-2697-4579-AF96-8DD0B0CA5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347" y="3898274"/>
            <a:ext cx="2648357" cy="27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4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CE49E-3501-4717-9B6F-78578BFF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Виртуализация – это</a:t>
            </a:r>
            <a:r>
              <a:rPr lang="en-US" b="1"/>
              <a:t>: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BAC823-89AF-4560-B5E1-5A062441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Виртуализация — это процесс создания программной версии или эмуляции чего-либо (сервера, операционной системы, хранилища данных, сети), вместо реального, физического экземпляра.</a:t>
            </a:r>
          </a:p>
          <a:p>
            <a:r>
              <a:rPr lang="ru-RU" dirty="0"/>
              <a:t>Простыми словами: это технология, которая позволяет разделить один физический компьютер на несколько виртуальных. Каждый из этих виртуальных компьютеров может работать независимо, запускать свои собственные программы и операционные системы, думая, что у него есть свое собственное железо (процессор, память, диск).</a:t>
            </a:r>
          </a:p>
        </p:txBody>
      </p:sp>
    </p:spTree>
    <p:extLst>
      <p:ext uri="{BB962C8B-B14F-4D97-AF65-F5344CB8AC3E}">
        <p14:creationId xmlns:p14="http://schemas.microsoft.com/office/powerpoint/2010/main" val="53073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9C4C2-C9DA-4140-A1D2-B3BB7335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это связано с гипервизором?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FF4B37-58E0-41B4-8D50-EF78BE03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7379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Гипервизор — это инструмент для создания виртуализации. Если проводить аналогию:</a:t>
            </a:r>
          </a:p>
          <a:p>
            <a:endParaRPr lang="ru-RU" dirty="0"/>
          </a:p>
          <a:p>
            <a:r>
              <a:rPr lang="ru-RU" dirty="0"/>
              <a:t>Виртуализация — это концепция, идея разделения ресурсов.</a:t>
            </a:r>
          </a:p>
          <a:p>
            <a:endParaRPr lang="ru-RU" dirty="0"/>
          </a:p>
          <a:p>
            <a:r>
              <a:rPr lang="ru-RU" dirty="0"/>
              <a:t>Гипервизор — это программа (механизм), которая эту идею реализует на практике.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5B65C3-66D7-443D-A916-E1CFDAF5A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198" y="1941094"/>
            <a:ext cx="5916327" cy="369770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68B037-3E16-465D-9023-BDED6FA63E46}"/>
              </a:ext>
            </a:extLst>
          </p:cNvPr>
          <p:cNvSpPr/>
          <p:nvPr/>
        </p:nvSpPr>
        <p:spPr>
          <a:xfrm>
            <a:off x="5598695" y="5342021"/>
            <a:ext cx="1572126" cy="5471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06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4411F-790B-4D41-8D2B-16B02BC9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функции гипервизора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678039-5F10-4F49-B772-5AEA7E658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Изоляция: Ошибки или вирусы в одной виртуальной машине не влияют на работу других.</a:t>
            </a:r>
          </a:p>
          <a:p>
            <a:endParaRPr lang="ru-RU" dirty="0"/>
          </a:p>
          <a:p>
            <a:r>
              <a:rPr lang="ru-RU" dirty="0"/>
              <a:t>Управление ресурсами: Гипервизор динамически выделяет мощность процессора и объем оперативной памяти каждой ВМ.</a:t>
            </a:r>
          </a:p>
          <a:p>
            <a:endParaRPr lang="ru-RU" dirty="0"/>
          </a:p>
          <a:p>
            <a:r>
              <a:rPr lang="ru-RU" dirty="0"/>
              <a:t>Абстрагирование: Операционные системы внутри ВМ общаются с «виртуальным железом», не зная о том, что работают не на реальном оборудовании.</a:t>
            </a:r>
          </a:p>
        </p:txBody>
      </p:sp>
    </p:spTree>
    <p:extLst>
      <p:ext uri="{BB962C8B-B14F-4D97-AF65-F5344CB8AC3E}">
        <p14:creationId xmlns:p14="http://schemas.microsoft.com/office/powerpoint/2010/main" val="320305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02E80-0141-4FBC-9D1B-6D9FBEC2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 (типы) гипервизоров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6E33BC-9729-45B8-BA35-1E8C3D716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Гипервизоры типа 1 (</a:t>
            </a:r>
            <a:r>
              <a:rPr lang="ru-RU" dirty="0" err="1"/>
              <a:t>Bare-metal</a:t>
            </a:r>
            <a:r>
              <a:rPr lang="ru-RU" dirty="0"/>
              <a:t> / Нативный)</a:t>
            </a:r>
          </a:p>
          <a:p>
            <a:r>
              <a:rPr lang="ru-RU" dirty="0"/>
              <a:t>Этот тип гипервизора устанавливается напрямую на физическое оборудование (железо сервера). Он выполняет роль операционной системы.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45FAE6-FFE8-425B-9956-EB0FAF3E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17" y="3609474"/>
            <a:ext cx="7671366" cy="324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7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0B19D-B565-4A4F-9A36-BE714495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Плюсы и минусы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6D1472-507D-4116-BA88-A582A363A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Плюсы:</a:t>
            </a:r>
          </a:p>
          <a:p>
            <a:endParaRPr lang="ru-RU" dirty="0"/>
          </a:p>
          <a:p>
            <a:r>
              <a:rPr lang="ru-RU" dirty="0"/>
              <a:t>Высокая производительность (минимальные задержки, прямой доступ к ресурсам).</a:t>
            </a:r>
          </a:p>
          <a:p>
            <a:endParaRPr lang="ru-RU" dirty="0"/>
          </a:p>
          <a:p>
            <a:r>
              <a:rPr lang="ru-RU" dirty="0"/>
              <a:t>Высокая безопасность и стабильность (нет лишней прослойки в виде ОС).</a:t>
            </a:r>
          </a:p>
          <a:p>
            <a:endParaRPr lang="ru-RU" dirty="0"/>
          </a:p>
          <a:p>
            <a:r>
              <a:rPr lang="ru-RU" dirty="0"/>
              <a:t>Минусы:</a:t>
            </a:r>
          </a:p>
          <a:p>
            <a:endParaRPr lang="ru-RU" dirty="0"/>
          </a:p>
          <a:p>
            <a:r>
              <a:rPr lang="ru-RU" dirty="0"/>
              <a:t>Требуют выделенного сервера.</a:t>
            </a:r>
          </a:p>
          <a:p>
            <a:endParaRPr lang="ru-RU" dirty="0"/>
          </a:p>
          <a:p>
            <a:r>
              <a:rPr lang="ru-RU" dirty="0"/>
              <a:t>Управление часто требует отдельной консоли или сети.</a:t>
            </a:r>
          </a:p>
        </p:txBody>
      </p:sp>
    </p:spTree>
    <p:extLst>
      <p:ext uri="{BB962C8B-B14F-4D97-AF65-F5344CB8AC3E}">
        <p14:creationId xmlns:p14="http://schemas.microsoft.com/office/powerpoint/2010/main" val="1848449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4F310-10EB-4CA3-9793-20C1AFB9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Второй тип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2357AF-7C2E-4B1B-8CFE-D898A0676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Гипервизоры типа 2 (</a:t>
            </a:r>
            <a:r>
              <a:rPr lang="ru-RU" dirty="0" err="1"/>
              <a:t>Hosted</a:t>
            </a:r>
            <a:r>
              <a:rPr lang="ru-RU" dirty="0"/>
              <a:t> / Встраиваемые)</a:t>
            </a:r>
          </a:p>
          <a:p>
            <a:r>
              <a:rPr lang="ru-RU" dirty="0"/>
              <a:t>Этот тип гипервизора устанавливается поверх уже работающей операционной системы (</a:t>
            </a:r>
            <a:r>
              <a:rPr lang="ru-RU" dirty="0" err="1"/>
              <a:t>хостовой</a:t>
            </a:r>
            <a:r>
              <a:rPr lang="ru-RU" dirty="0"/>
              <a:t> ОС), как обычное приложение.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6E4A06-3E6C-4FBB-A58A-E944FC4BD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523" y="3397735"/>
            <a:ext cx="3600953" cy="346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2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1569B-9422-4997-BF8D-7D3EB359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Плюсы и минусы второго вида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C4D4D-BD19-4681-9C79-E36FD1A55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Плюсы:</a:t>
            </a:r>
          </a:p>
          <a:p>
            <a:endParaRPr lang="ru-RU" dirty="0"/>
          </a:p>
          <a:p>
            <a:r>
              <a:rPr lang="ru-RU" dirty="0"/>
              <a:t>Удобство использования (легко установить на свой ноутбук или ПК).</a:t>
            </a:r>
          </a:p>
          <a:p>
            <a:endParaRPr lang="ru-RU" dirty="0"/>
          </a:p>
          <a:p>
            <a:r>
              <a:rPr lang="ru-RU" dirty="0"/>
              <a:t>Широкая поддержка оборудования (не нужно искать специальные драйверы).</a:t>
            </a:r>
          </a:p>
          <a:p>
            <a:endParaRPr lang="ru-RU" dirty="0"/>
          </a:p>
          <a:p>
            <a:r>
              <a:rPr lang="ru-RU" dirty="0"/>
              <a:t>Минусы:</a:t>
            </a:r>
          </a:p>
          <a:p>
            <a:endParaRPr lang="ru-RU" dirty="0"/>
          </a:p>
          <a:p>
            <a:r>
              <a:rPr lang="ru-RU" dirty="0"/>
              <a:t>Меньшая производительность (из-за двойной нагрузки: </a:t>
            </a:r>
            <a:r>
              <a:rPr lang="ru-RU" dirty="0" err="1"/>
              <a:t>хостовая</a:t>
            </a:r>
            <a:r>
              <a:rPr lang="ru-RU" dirty="0"/>
              <a:t> ОС -&gt; гипервизор -&gt; гостевая ОС).</a:t>
            </a:r>
          </a:p>
          <a:p>
            <a:endParaRPr lang="ru-RU" dirty="0"/>
          </a:p>
          <a:p>
            <a:r>
              <a:rPr lang="ru-RU" dirty="0"/>
              <a:t>Меньшая надежность (если падает </a:t>
            </a:r>
            <a:r>
              <a:rPr lang="ru-RU" dirty="0" err="1"/>
              <a:t>хостовая</a:t>
            </a:r>
            <a:r>
              <a:rPr lang="ru-RU" dirty="0"/>
              <a:t> ОС, падают и все виртуальные машины).</a:t>
            </a:r>
          </a:p>
        </p:txBody>
      </p:sp>
    </p:spTree>
    <p:extLst>
      <p:ext uri="{BB962C8B-B14F-4D97-AF65-F5344CB8AC3E}">
        <p14:creationId xmlns:p14="http://schemas.microsoft.com/office/powerpoint/2010/main" val="248265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E5E9E-1CA4-43F0-9453-23AB0F14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		  Сравнительная таблица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D8E467AD-A0C7-49FE-B352-A1D7D5B72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3190310"/>
              </p:ext>
            </p:extLst>
          </p:nvPr>
        </p:nvGraphicFramePr>
        <p:xfrm>
          <a:off x="1" y="1690688"/>
          <a:ext cx="12191997" cy="4655574"/>
        </p:xfrm>
        <a:graphic>
          <a:graphicData uri="http://schemas.openxmlformats.org/drawingml/2006/table">
            <a:tbl>
              <a:tblPr/>
              <a:tblGrid>
                <a:gridCol w="4063999">
                  <a:extLst>
                    <a:ext uri="{9D8B030D-6E8A-4147-A177-3AD203B41FA5}">
                      <a16:colId xmlns:a16="http://schemas.microsoft.com/office/drawing/2014/main" val="358866414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3715236132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3003572303"/>
                    </a:ext>
                  </a:extLst>
                </a:gridCol>
              </a:tblGrid>
              <a:tr h="565067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>
                          <a:effectLst/>
                          <a:latin typeface="quote-cjk-patch"/>
                        </a:rPr>
                        <a:t>Характеристика</a:t>
                      </a:r>
                    </a:p>
                  </a:txBody>
                  <a:tcPr marL="71923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>
                          <a:effectLst/>
                          <a:latin typeface="quote-cjk-patch"/>
                        </a:rPr>
                        <a:t>Тип 1 (</a:t>
                      </a:r>
                      <a:r>
                        <a:rPr lang="en-US" sz="2400" b="1" dirty="0">
                          <a:effectLst/>
                          <a:latin typeface="quote-cjk-patch"/>
                        </a:rPr>
                        <a:t>Bare-metal)</a:t>
                      </a:r>
                    </a:p>
                  </a:txBody>
                  <a:tcPr marL="119872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>
                          <a:effectLst/>
                          <a:latin typeface="quote-cjk-patch"/>
                        </a:rPr>
                        <a:t>Тип 2 (</a:t>
                      </a:r>
                      <a:r>
                        <a:rPr lang="en-US" sz="2400" b="1" dirty="0">
                          <a:effectLst/>
                          <a:latin typeface="quote-cjk-patch"/>
                        </a:rPr>
                        <a:t>Hosted)</a:t>
                      </a:r>
                    </a:p>
                  </a:txBody>
                  <a:tcPr marL="119872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16988"/>
                  </a:ext>
                </a:extLst>
              </a:tr>
              <a:tr h="565067"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quote-cjk-patch"/>
                        </a:rPr>
                        <a:t>Установка</a:t>
                      </a:r>
                    </a:p>
                  </a:txBody>
                  <a:tcPr marL="71923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quote-cjk-patch"/>
                        </a:rPr>
                        <a:t>Прямо на "железо"</a:t>
                      </a:r>
                    </a:p>
                  </a:txBody>
                  <a:tcPr marL="119872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quote-cjk-patch"/>
                        </a:rPr>
                        <a:t>Поверх ОС</a:t>
                      </a:r>
                    </a:p>
                  </a:txBody>
                  <a:tcPr marL="119872" marR="71923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24976"/>
                  </a:ext>
                </a:extLst>
              </a:tr>
              <a:tr h="774783"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quote-cjk-patch"/>
                        </a:rPr>
                        <a:t>Производительность</a:t>
                      </a:r>
                    </a:p>
                  </a:txBody>
                  <a:tcPr marL="71923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quote-cjk-patch"/>
                        </a:rPr>
                        <a:t>Максимальная (близка к нативной)</a:t>
                      </a:r>
                    </a:p>
                  </a:txBody>
                  <a:tcPr marL="119872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quote-cjk-patch"/>
                        </a:rPr>
                        <a:t>Ниже (из-за прослойки ОС)</a:t>
                      </a:r>
                    </a:p>
                  </a:txBody>
                  <a:tcPr marL="119872" marR="71923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748471"/>
                  </a:ext>
                </a:extLst>
              </a:tr>
              <a:tr h="774783"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quote-cjk-patch"/>
                        </a:rPr>
                        <a:t>Использование</a:t>
                      </a:r>
                    </a:p>
                  </a:txBody>
                  <a:tcPr marL="71923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quote-cjk-patch"/>
                        </a:rPr>
                        <a:t>Серверы, </a:t>
                      </a:r>
                      <a:r>
                        <a:rPr lang="ru-RU" sz="2400" b="0" dirty="0" err="1">
                          <a:effectLst/>
                          <a:latin typeface="quote-cjk-patch"/>
                        </a:rPr>
                        <a:t>ЦОДы</a:t>
                      </a:r>
                      <a:r>
                        <a:rPr lang="ru-RU" sz="2400" b="0" dirty="0">
                          <a:effectLst/>
                          <a:latin typeface="quote-cjk-patch"/>
                        </a:rPr>
                        <a:t>, облачные провайдеры</a:t>
                      </a:r>
                    </a:p>
                  </a:txBody>
                  <a:tcPr marL="119872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quote-cjk-patch"/>
                        </a:rPr>
                        <a:t>Рабочие станции, тестирование, разработка</a:t>
                      </a:r>
                    </a:p>
                  </a:txBody>
                  <a:tcPr marL="119872" marR="71923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318774"/>
                  </a:ext>
                </a:extLst>
              </a:tr>
              <a:tr h="774783"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quote-cjk-patch"/>
                        </a:rPr>
                        <a:t>Безопасность</a:t>
                      </a:r>
                    </a:p>
                  </a:txBody>
                  <a:tcPr marL="71923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quote-cjk-patch"/>
                        </a:rPr>
                        <a:t>Выше (меньше атакующих векторов)</a:t>
                      </a:r>
                    </a:p>
                  </a:txBody>
                  <a:tcPr marL="119872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effectLst/>
                          <a:latin typeface="quote-cjk-patch"/>
                        </a:rPr>
                        <a:t>Ниже (зависит от защиты хостовой ОС)</a:t>
                      </a:r>
                    </a:p>
                  </a:txBody>
                  <a:tcPr marL="119872" marR="71923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656543"/>
                  </a:ext>
                </a:extLst>
              </a:tr>
              <a:tr h="774783"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quote-cjk-patch"/>
                        </a:rPr>
                        <a:t>Примеры</a:t>
                      </a:r>
                    </a:p>
                  </a:txBody>
                  <a:tcPr marL="71923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  <a:latin typeface="quote-cjk-patch"/>
                        </a:rPr>
                        <a:t>ESXi, Hyper-V, KVM, Xen</a:t>
                      </a:r>
                    </a:p>
                  </a:txBody>
                  <a:tcPr marL="119872" marR="119872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quote-cjk-patch"/>
                        </a:rPr>
                        <a:t>VirtualBox, VMware Workstation</a:t>
                      </a:r>
                    </a:p>
                  </a:txBody>
                  <a:tcPr marL="119872" marR="71923" marT="74920" marB="74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31872"/>
                  </a:ext>
                </a:extLst>
              </a:tr>
            </a:tbl>
          </a:graphicData>
        </a:graphic>
      </p:graphicFrame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7F4DD3C-0341-4B14-82A5-4EBE0BEF4F01}"/>
              </a:ext>
            </a:extLst>
          </p:cNvPr>
          <p:cNvCxnSpPr>
            <a:cxnSpLocks/>
          </p:cNvCxnSpPr>
          <p:nvPr/>
        </p:nvCxnSpPr>
        <p:spPr>
          <a:xfrm>
            <a:off x="0" y="14758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3071CAE-6C37-4F36-986B-C8FF4DBE05DF}"/>
              </a:ext>
            </a:extLst>
          </p:cNvPr>
          <p:cNvCxnSpPr>
            <a:cxnSpLocks/>
          </p:cNvCxnSpPr>
          <p:nvPr/>
        </p:nvCxnSpPr>
        <p:spPr>
          <a:xfrm>
            <a:off x="3449053" y="1475874"/>
            <a:ext cx="0" cy="538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8E8DBF4-23A1-4C68-AC9C-2D418726AA25}"/>
              </a:ext>
            </a:extLst>
          </p:cNvPr>
          <p:cNvCxnSpPr/>
          <p:nvPr/>
        </p:nvCxnSpPr>
        <p:spPr>
          <a:xfrm>
            <a:off x="7948864" y="1475874"/>
            <a:ext cx="0" cy="538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13E336-B918-4A6B-B1B9-CC64FCC2E70B}"/>
              </a:ext>
            </a:extLst>
          </p:cNvPr>
          <p:cNvCxnSpPr/>
          <p:nvPr/>
        </p:nvCxnSpPr>
        <p:spPr>
          <a:xfrm>
            <a:off x="0" y="22298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9E2F90E-43D1-47A3-B89C-F5F8770B052E}"/>
              </a:ext>
            </a:extLst>
          </p:cNvPr>
          <p:cNvCxnSpPr/>
          <p:nvPr/>
        </p:nvCxnSpPr>
        <p:spPr>
          <a:xfrm>
            <a:off x="-2" y="286351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24CEF00-0FED-41C6-B10A-8056A3AF34D1}"/>
              </a:ext>
            </a:extLst>
          </p:cNvPr>
          <p:cNvCxnSpPr/>
          <p:nvPr/>
        </p:nvCxnSpPr>
        <p:spPr>
          <a:xfrm>
            <a:off x="0" y="371374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8327E021-8CE8-404B-A0DE-E6C8D435E78A}"/>
              </a:ext>
            </a:extLst>
          </p:cNvPr>
          <p:cNvCxnSpPr/>
          <p:nvPr/>
        </p:nvCxnSpPr>
        <p:spPr>
          <a:xfrm>
            <a:off x="0" y="461210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9EAAD6DF-87D1-4276-9A87-0DDE8B92A27B}"/>
              </a:ext>
            </a:extLst>
          </p:cNvPr>
          <p:cNvCxnSpPr/>
          <p:nvPr/>
        </p:nvCxnSpPr>
        <p:spPr>
          <a:xfrm>
            <a:off x="0" y="53901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7038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420</Words>
  <Application>Microsoft Office PowerPoint</Application>
  <PresentationFormat>Широкоэкранный</PresentationFormat>
  <Paragraphs>66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quote-cjk-patch</vt:lpstr>
      <vt:lpstr>Тема Office</vt:lpstr>
      <vt:lpstr>Гипервизор</vt:lpstr>
      <vt:lpstr>Виртуализация – это:</vt:lpstr>
      <vt:lpstr>Как это связано с гипервизором?</vt:lpstr>
      <vt:lpstr>Основные функции гипервизора</vt:lpstr>
      <vt:lpstr>Виды (типы) гипервизоров</vt:lpstr>
      <vt:lpstr>Плюсы и минусы</vt:lpstr>
      <vt:lpstr>Второй тип</vt:lpstr>
      <vt:lpstr>Плюсы и минусы второго вида</vt:lpstr>
      <vt:lpstr>    Сравнительная таблица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Гипервизор</dc:title>
  <dc:creator>Шахсуварян Давид Артаваздович</dc:creator>
  <cp:lastModifiedBy>Шахсуварян Давид Артаваздович</cp:lastModifiedBy>
  <cp:revision>3</cp:revision>
  <dcterms:created xsi:type="dcterms:W3CDTF">2026-02-21T06:41:20Z</dcterms:created>
  <dcterms:modified xsi:type="dcterms:W3CDTF">2026-02-21T06:53:45Z</dcterms:modified>
</cp:coreProperties>
</file>