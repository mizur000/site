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5205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67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804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93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33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67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08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15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509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144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23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6247546-8D3E-419B-B2E0-87C140A4DF42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731A846-4517-4A17-87BC-316A64FC29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57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5E364-0642-4CFC-B226-1F4FAF64E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i="0" dirty="0">
                <a:effectLst/>
                <a:latin typeface="Montserrat" panose="020B0604020202020204" pitchFamily="2" charset="-52"/>
              </a:rPr>
              <a:t>Что нужно знать об IPv4 и IPv6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1DA9E7-FDA9-427F-B195-EDC171AF4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8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2D2FB-DA84-46A3-AF83-BD292DFE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356340-4896-4168-8CEC-A337528CA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640" y="1895912"/>
            <a:ext cx="10515600" cy="470050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 2025 году: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5.7 млрд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пользователей интернета.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Количество подключенных устройств: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29.3 млрд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 каждого человека —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больше 3-х сетевых устройств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(смартфоны, ноутбуки, умная техника).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Вопрос: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Как все эти устройства общаются друг с другом?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Ответ: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Через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Internet Protocol (IP)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который маршрутизирует и адресует данные.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Две версии протокола: IPv4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vs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IPv6. Почему они сосуществуют?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932927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FA80D-2E2A-4F3B-80A9-69CFF377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IPv4 — 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проверенный, но ограниченный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3D44C7-BD06-498B-A973-FDD4B9A86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Создан в 1982 году.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Адрес устройства: 32 бита.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Формат: Четыре числа от 0 до 255, разделенные точками.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Пример: 192.168.1.103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Лимит адресов: ~ 4.29 миллиарда комбинаций.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Проблема: Устройств в мире уже в разы больше.</a:t>
            </a:r>
          </a:p>
          <a:p>
            <a:pPr marL="0" indent="0">
              <a:buNone/>
            </a:pPr>
            <a:r>
              <a:rPr lang="ru-RU" b="1" dirty="0"/>
              <a:t>	Как решали дефицит?</a:t>
            </a:r>
          </a:p>
          <a:p>
            <a:r>
              <a:rPr lang="ru-RU" dirty="0"/>
              <a:t>CIDR — бесклассовая маршрутизация.</a:t>
            </a:r>
          </a:p>
          <a:p>
            <a:r>
              <a:rPr lang="ru-RU" dirty="0"/>
              <a:t>NAT (Network Address Translation) — преобразование частных адресов в публичный.</a:t>
            </a:r>
          </a:p>
          <a:p>
            <a:r>
              <a:rPr lang="ru-RU" dirty="0"/>
              <a:t>Но этого стало недостаточно.</a:t>
            </a:r>
          </a:p>
        </p:txBody>
      </p:sp>
    </p:spTree>
    <p:extLst>
      <p:ext uri="{BB962C8B-B14F-4D97-AF65-F5344CB8AC3E}">
        <p14:creationId xmlns:p14="http://schemas.microsoft.com/office/powerpoint/2010/main" val="3514819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4B2A3-9676-4210-8D73-744AD146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IPv6 — 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протокол будущего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6D1E02-B2C3-43BF-ACD9-3001DAE06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Представлен в 1995 году как ответ на исчерпание IPv4.</a:t>
            </a:r>
          </a:p>
          <a:p>
            <a:r>
              <a:rPr lang="ru-RU" dirty="0"/>
              <a:t>Главное отличие: Адрес — 128 бит.</a:t>
            </a:r>
          </a:p>
          <a:p>
            <a:r>
              <a:rPr lang="ru-RU" dirty="0"/>
              <a:t>Формат: 8 групп шестнадцатеричных цифр, разделенных двоеточиями.</a:t>
            </a:r>
          </a:p>
          <a:p>
            <a:pPr marL="0" indent="0">
              <a:buNone/>
            </a:pPr>
            <a:r>
              <a:rPr lang="ru-RU" dirty="0"/>
              <a:t>Пример: ef05:1db1:12a5:0200:0230:a71e:1363:53e1</a:t>
            </a:r>
          </a:p>
          <a:p>
            <a:r>
              <a:rPr lang="ru-RU" dirty="0"/>
              <a:t>Гигантское пространство: 2^128 адресов (≈ миллионы на каждого человека на Земле).</a:t>
            </a:r>
          </a:p>
        </p:txBody>
      </p:sp>
    </p:spTree>
    <p:extLst>
      <p:ext uri="{BB962C8B-B14F-4D97-AF65-F5344CB8AC3E}">
        <p14:creationId xmlns:p14="http://schemas.microsoft.com/office/powerpoint/2010/main" val="142059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71C05-4D33-48F6-A003-1B173929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Ключевые преимущества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IPv6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B38340-78EA-486D-B71D-AF53FAD15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Неисчерпаемость адресов: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Уникальный IP для каждого устройства.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Отсутствие NAT: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Повышает эффективность P2P-соединений и VPN.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Эффективная маршрутизация: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Меньшие таблицы маршрутизации, выше скорость.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Встроенная безопасность: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Обязательная поддержка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IPSec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(шифрование на сетевом уровне).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Упрощенные заголовки: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Быстрее обрабатываются сетевым оборудованием.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Лучшая поддержка мобильности.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4973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FFF67-928A-4E37-BD82-627F5082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Сравнительная таблица IPv4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vs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IPv6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05A8573-139D-46FB-8A8C-42C10C785D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464636"/>
              </p:ext>
            </p:extLst>
          </p:nvPr>
        </p:nvGraphicFramePr>
        <p:xfrm>
          <a:off x="717479" y="1620127"/>
          <a:ext cx="10515600" cy="4351779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068629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124992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1609037"/>
                    </a:ext>
                  </a:extLst>
                </a:gridCol>
              </a:tblGrid>
              <a:tr h="412802">
                <a:tc>
                  <a:txBody>
                    <a:bodyPr/>
                    <a:lstStyle/>
                    <a:p>
                      <a:pPr algn="l"/>
                      <a:r>
                        <a:rPr lang="ru-RU" sz="1600" b="0">
                          <a:effectLst/>
                          <a:latin typeface="quote-cjk-patch"/>
                        </a:rPr>
                        <a:t>Характеристика</a:t>
                      </a:r>
                    </a:p>
                  </a:txBody>
                  <a:tcPr marL="81207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  <a:latin typeface="quote-cjk-patch"/>
                        </a:rPr>
                        <a:t>IPv4</a:t>
                      </a:r>
                    </a:p>
                  </a:txBody>
                  <a:tcPr marL="135345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  <a:latin typeface="quote-cjk-patch"/>
                        </a:rPr>
                        <a:t>IPv6</a:t>
                      </a:r>
                    </a:p>
                  </a:txBody>
                  <a:tcPr marL="135345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89466"/>
                  </a:ext>
                </a:extLst>
              </a:tr>
              <a:tr h="412802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Длина адреса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32 бита</a:t>
                      </a:r>
                    </a:p>
                  </a:txBody>
                  <a:tcPr marL="135345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128 бит</a:t>
                      </a:r>
                    </a:p>
                  </a:txBody>
                  <a:tcPr marL="135345" marR="81207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17046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Формат адреса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192.168.1.1 (десятичный)</a:t>
                      </a:r>
                    </a:p>
                  </a:txBody>
                  <a:tcPr marL="135345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fe80::1 (</a:t>
                      </a:r>
                      <a:r>
                        <a:rPr lang="ru-RU" sz="1600" b="0">
                          <a:effectLst/>
                          <a:latin typeface="quote-cjk-patch"/>
                        </a:rPr>
                        <a:t>шестнадцатеричный)</a:t>
                      </a:r>
                    </a:p>
                  </a:txBody>
                  <a:tcPr marL="135345" marR="81207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94734"/>
                  </a:ext>
                </a:extLst>
              </a:tr>
              <a:tr h="900043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Маска подсети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Применяется</a:t>
                      </a:r>
                    </a:p>
                  </a:txBody>
                  <a:tcPr marL="135345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Не используется (более гибкая архитектура)</a:t>
                      </a:r>
                    </a:p>
                  </a:txBody>
                  <a:tcPr marL="135345" marR="81207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13439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Безопасность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Отдельные решения (опционально)</a:t>
                      </a:r>
                    </a:p>
                  </a:txBody>
                  <a:tcPr marL="135345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  <a:latin typeface="quote-cjk-patch"/>
                        </a:rPr>
                        <a:t>IPSec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 </a:t>
                      </a:r>
                      <a:r>
                        <a:rPr lang="ru-RU" sz="1600" b="0">
                          <a:effectLst/>
                          <a:latin typeface="quote-cjk-patch"/>
                        </a:rPr>
                        <a:t>встроен и рекомендован</a:t>
                      </a:r>
                    </a:p>
                  </a:txBody>
                  <a:tcPr marL="135345" marR="81207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949069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Автоконфигурация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Требует 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DHCP</a:t>
                      </a:r>
                    </a:p>
                  </a:txBody>
                  <a:tcPr marL="135345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Есть встроенная (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SLAAC)</a:t>
                      </a:r>
                    </a:p>
                  </a:txBody>
                  <a:tcPr marL="135345" marR="81207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958231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Распространенность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Повсеместно</a:t>
                      </a:r>
                    </a:p>
                  </a:txBody>
                  <a:tcPr marL="135345" marR="135345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Растет, но не у всех провайдеров</a:t>
                      </a:r>
                    </a:p>
                  </a:txBody>
                  <a:tcPr marL="135345" marR="81207" marT="84591" marB="84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27889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0008C02-5FCE-405C-A1E6-BCC09CC21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34" y="1296803"/>
            <a:ext cx="201543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394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C7E91-0247-4D25-B6DE-1E1E68AF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Почему мы до сих пор используем IPv4? Сложности перехода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511326-3B05-4D1A-A97D-408A9F823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Унаследованная инфраструктура: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Мир построен под IPv4.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Высокая стоимость: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Необходимость замены и настройки оборудования.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Нехватка экспертизы: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Не все администраторы готовы обслуживать IPv6.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Нет обратной совместимости: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IPv6-устройство не может напрямую связаться с IPv4.</a:t>
            </a:r>
          </a:p>
          <a:p>
            <a:pPr marL="0" indent="0" algn="l"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quote-cjk-patch"/>
              </a:rPr>
              <a:t>Решение для перехода:</a:t>
            </a:r>
            <a:endParaRPr lang="ru-RU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Dual </a:t>
            </a:r>
            <a:r>
              <a:rPr lang="ru-RU" sz="2400" b="1" i="0" dirty="0" err="1">
                <a:solidFill>
                  <a:srgbClr val="0F1115"/>
                </a:solidFill>
                <a:effectLst/>
                <a:latin typeface="quote-cjk-patch"/>
              </a:rPr>
              <a:t>Stack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 (Двойной стек):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Устройство работает одновременно с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IPv4 и IPv6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834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4E0BF-9897-46F0-AABB-8107ED61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Вывод и перспективы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062918-D95E-4463-9DF9-9A075F007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IPv4 — фундамент интернета, но его ресурсы исчерпаны.</a:t>
            </a:r>
          </a:p>
          <a:p>
            <a:r>
              <a:rPr lang="ru-RU" dirty="0"/>
              <a:t>IPv6 — неизбежное будущее с огромным адресным пространством, безопасностью и эффективностью.</a:t>
            </a:r>
          </a:p>
          <a:p>
            <a:r>
              <a:rPr lang="ru-RU" dirty="0"/>
              <a:t>Тренд: Крупные компании (Google, Facebook, Amazon) уже перешли.</a:t>
            </a:r>
          </a:p>
          <a:p>
            <a:r>
              <a:rPr lang="ru-RU" dirty="0"/>
              <a:t>Доля IPv6-трафика неуклонно растет (уже более 30% глобально).</a:t>
            </a:r>
          </a:p>
          <a:p>
            <a:r>
              <a:rPr lang="ru-RU" dirty="0"/>
              <a:t>Переход на IPv6 — это вопрос времени, необходимый для развития интернета вещей (</a:t>
            </a:r>
            <a:r>
              <a:rPr lang="ru-RU" dirty="0" err="1"/>
              <a:t>IoT</a:t>
            </a:r>
            <a:r>
              <a:rPr lang="ru-RU" dirty="0"/>
              <a:t>), 5G и новых технологий.</a:t>
            </a:r>
          </a:p>
        </p:txBody>
      </p:sp>
    </p:spTree>
    <p:extLst>
      <p:ext uri="{BB962C8B-B14F-4D97-AF65-F5344CB8AC3E}">
        <p14:creationId xmlns:p14="http://schemas.microsoft.com/office/powerpoint/2010/main" val="706933996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11</TotalTime>
  <Words>466</Words>
  <Application>Microsoft Office PowerPoint</Application>
  <PresentationFormat>Широкоэкранный</PresentationFormat>
  <Paragraphs>68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Century Schoolbook</vt:lpstr>
      <vt:lpstr>Courier New</vt:lpstr>
      <vt:lpstr>Montserrat</vt:lpstr>
      <vt:lpstr>quote-cjk-patch</vt:lpstr>
      <vt:lpstr>Wingdings 2</vt:lpstr>
      <vt:lpstr>Вид</vt:lpstr>
      <vt:lpstr>Что нужно знать об IPv4 и IPv6</vt:lpstr>
      <vt:lpstr>Введение</vt:lpstr>
      <vt:lpstr>IPv4 — проверенный, но ограниченный</vt:lpstr>
      <vt:lpstr>IPv6 — протокол будущего</vt:lpstr>
      <vt:lpstr>Ключевые преимущества IPv6</vt:lpstr>
      <vt:lpstr>Сравнительная таблица IPv4 vs IPv6</vt:lpstr>
      <vt:lpstr>Почему мы до сих пор используем IPv4? Сложности перехода</vt:lpstr>
      <vt:lpstr>Вывод и перспективы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нужно знать об IPv4 и IPv6</dc:title>
  <dc:creator>Тарасов Илья Юрьевич</dc:creator>
  <cp:lastModifiedBy>Тарасов Илья Юрьевич</cp:lastModifiedBy>
  <cp:revision>4</cp:revision>
  <dcterms:created xsi:type="dcterms:W3CDTF">2026-01-26T10:25:36Z</dcterms:created>
  <dcterms:modified xsi:type="dcterms:W3CDTF">2026-01-27T07:14:04Z</dcterms:modified>
</cp:coreProperties>
</file>