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Century Schoolbook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6A2FC7-08AD-41E0-A0E8-80C588CCECBD}">
  <a:tblStyle styleId="{086A2FC7-08AD-41E0-A0E8-80C588CCECBD}" styleName="Table_0">
    <a:wholeTbl>
      <a:tcTxStyle b="off" i="off">
        <a:font>
          <a:latin typeface="Century Schoolbook"/>
          <a:ea typeface="Century Schoolbook"/>
          <a:cs typeface="Century Schoolbook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enturySchoolbook-bold.fntdata"/><Relationship Id="rId25" Type="http://schemas.openxmlformats.org/officeDocument/2006/relationships/font" Target="fonts/CenturySchoolbook-regular.fntdata"/><Relationship Id="rId28" Type="http://schemas.openxmlformats.org/officeDocument/2006/relationships/font" Target="fonts/CenturySchoolbook-boldItalic.fntdata"/><Relationship Id="rId27" Type="http://schemas.openxmlformats.org/officeDocument/2006/relationships/font" Target="fonts/CenturySchoolbook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solidFill>
          <a:srgbClr val="343437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b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/>
          <p:nvPr>
            <p:ph idx="2" type="pic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solidFill>
          <a:srgbClr val="343437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b="0"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7" name="Google Shape;57;p8"/>
          <p:cNvSpPr txBox="1"/>
          <p:nvPr>
            <p:ph idx="2" type="body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5" name="Google Shape;65;p9"/>
          <p:cNvSpPr txBox="1"/>
          <p:nvPr>
            <p:ph idx="3" type="body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2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9"/>
          <p:cNvSpPr txBox="1"/>
          <p:nvPr>
            <p:ph idx="4" type="body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2" name="Google Shape;82;p12"/>
          <p:cNvSpPr txBox="1"/>
          <p:nvPr>
            <p:ph idx="2" type="body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lang="ru-RU"/>
              <a:t>Технологии сетевого доступа: Виртуальные каналы и беспроводные решения</a:t>
            </a:r>
            <a:endParaRPr/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rPr>
              <a:t>Введение и цель презентации</a:t>
            </a:r>
            <a:br>
              <a:rPr b="1" lang="ru-RU">
                <a:latin typeface="Arial"/>
                <a:ea typeface="Arial"/>
                <a:cs typeface="Arial"/>
                <a:sym typeface="Arial"/>
              </a:rPr>
            </a:br>
            <a:r>
              <a:rPr b="1" lang="ru-RU"/>
              <a:t>Введение и цель презентации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1261872" y="2066925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i="0" lang="ru-RU" sz="2400"/>
              <a:t>Цель:</a:t>
            </a:r>
            <a:endParaRPr b="0" i="0" sz="2400"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Arial"/>
              <a:buChar char="•"/>
            </a:pPr>
            <a:r>
              <a:rPr b="0" i="0" lang="ru-RU" sz="2400"/>
              <a:t>Дать обзор ключевых технологий доступа с виртуальными каналами (VPN, MPLS, VLAN).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Arial"/>
              <a:buChar char="•"/>
            </a:pPr>
            <a:r>
              <a:rPr b="0" i="0" lang="ru-RU" sz="2400"/>
              <a:t>Рассмотреть эволюцию и современные стандарты беспроводного доступа (Wi-Fi, сотовые сети).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Arial"/>
              <a:buChar char="•"/>
            </a:pPr>
            <a:r>
              <a:rPr b="0" i="0" lang="ru-RU" sz="2400"/>
              <a:t>Показать области применения и тенденции конвергенции технологий.</a:t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49300" y="734060"/>
            <a:ext cx="10180828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b="1" lang="ru-RU"/>
              <a:t>Технологии доступа с виртуальными каналами: основная концепция</a:t>
            </a:r>
            <a:endParaRPr b="1"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983488" y="19685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None/>
            </a:pPr>
            <a:r>
              <a:rPr b="1" i="0" lang="ru-RU" sz="2400"/>
              <a:t>Что такое виртуальный канал?</a:t>
            </a:r>
            <a:endParaRPr b="0" i="0" sz="2400"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Arial"/>
              <a:buChar char="•"/>
            </a:pPr>
            <a:r>
              <a:rPr b="0" i="0" lang="ru-RU" sz="2400"/>
              <a:t>Логическое соединение, созданное поверх физической сети.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Arial"/>
              <a:buChar char="•"/>
            </a:pPr>
            <a:r>
              <a:rPr b="0" i="0" lang="ru-RU" sz="2400"/>
              <a:t>Позволяет изолировать и безопасно передавать трафик разных пользователей или служб через общую инфраструктуру.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Arial"/>
              <a:buChar char="•"/>
            </a:pPr>
            <a:r>
              <a:rPr b="1" i="0" lang="ru-RU" sz="2400"/>
              <a:t>Ключевые преимущества:</a:t>
            </a:r>
            <a:r>
              <a:rPr b="0" i="0" lang="ru-RU" sz="2400"/>
              <a:t> Безопасность, гибкость, управляемость, эффективное использование ресурсов.</a:t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677675" y="59325"/>
            <a:ext cx="99984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b="1" lang="ru-RU"/>
              <a:t>Технология VPN (Virtual Private Network)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677675" y="1186425"/>
            <a:ext cx="8595300" cy="30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ru-RU" sz="2000"/>
              <a:t>Назначение: создание защищенного "туннеля" через публичные сети (Интернет).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None/>
            </a:pPr>
            <a:r>
              <a:rPr lang="ru-RU" sz="2000"/>
              <a:t>Типы:</a:t>
            </a:r>
            <a:endParaRPr sz="2000"/>
          </a:p>
          <a:p>
            <a:pPr indent="-1879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ru-RU" sz="2000"/>
              <a:t>Remote Access VPN: Удаленный доступ сотрудников.</a:t>
            </a:r>
            <a:endParaRPr sz="2000"/>
          </a:p>
          <a:p>
            <a:pPr indent="-187959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ru-RU" sz="2000"/>
              <a:t>Site-to-Site VPN: Объединение филиалов в единую сеть.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None/>
            </a:pPr>
            <a:r>
              <a:rPr lang="ru-RU" sz="2000"/>
              <a:t>Ключевые протоколы: IPsec, SSL/TLS, OpenVPN, WireGuard.</a:t>
            </a:r>
            <a:endParaRPr sz="2000"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975" y="3857228"/>
            <a:ext cx="7370051" cy="282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3900" y="365760"/>
            <a:ext cx="1023061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Технология MPLS (Multiprotocol Label Switching)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842775" y="1993900"/>
            <a:ext cx="94569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Назначение: высокоскоростная транспортная технология для операторских и корпоративных сетей.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Принцип: передача пакетов по меткам (labels), а не по сложным IP-адресам.</a:t>
            </a:r>
            <a:endParaRPr sz="24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Преимущества: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Высокая скорость и предсказуемость.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Качество обслуживания (QoS) и Traffic Engineering.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Поддержка виртуальных частных сетей (L3 VPN, L2 VPN).</a:t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906272" y="503238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Технология VLAN (Virtual Local Area Network)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906272" y="2003425"/>
            <a:ext cx="9533128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Назначение: Логическая сегментация одной физической сети на несколько изолированных широковещательных доменов.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Принцип: Тегирование кадров (IEEE 802.1Q).</a:t>
            </a:r>
            <a:endParaRPr sz="24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Преимущества: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Повышение безопасности и производительности.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Упрощение управления (логическая группировка устройств).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Гибкость при изменении структуры сети.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876299" y="365601"/>
            <a:ext cx="9736328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Сравнение технологий виртуальных каналов</a:t>
            </a:r>
            <a:endParaRPr b="1"/>
          </a:p>
        </p:txBody>
      </p:sp>
      <p:graphicFrame>
        <p:nvGraphicFramePr>
          <p:cNvPr id="140" name="Google Shape;140;p21"/>
          <p:cNvGraphicFramePr/>
          <p:nvPr/>
        </p:nvGraphicFramePr>
        <p:xfrm>
          <a:off x="876300" y="1882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{086A2FC7-08AD-41E0-A0E8-80C588CCECBD}</a:tableStyleId>
              </a:tblPr>
              <a:tblGrid>
                <a:gridCol w="1667950"/>
                <a:gridCol w="2689475"/>
                <a:gridCol w="2647750"/>
                <a:gridCol w="2731175"/>
              </a:tblGrid>
              <a:tr h="4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 u="none" cap="none" strike="noStrike"/>
                        <a:t>Критерий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91450" anchor="ctr">
                    <a:solidFill>
                      <a:srgbClr val="A7A7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 u="none" cap="none" strike="noStrike"/>
                        <a:t>VPN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solidFill>
                      <a:srgbClr val="A7A7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 u="none" cap="none" strike="noStrike"/>
                        <a:t>MPLS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solidFill>
                      <a:srgbClr val="A7A7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 u="none" cap="none" strike="noStrike"/>
                        <a:t>VLAN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solidFill>
                      <a:srgbClr val="A7A7AB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 u="none" cap="none" strike="noStrike"/>
                        <a:t>Уровень работы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91450" anchor="ctr">
                    <a:solidFill>
                      <a:srgbClr val="A7A7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Сетевой и выше (3-7)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Канальный/сетевой (2-3)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Канальный (2)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1450" marL="152400" anchor="ctr">
                    <a:noFill/>
                  </a:tcPr>
                </a:tc>
              </a:tr>
              <a:tr h="101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/>
                        <a:t>Тип инфраструктуры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91450" anchor="ctr">
                    <a:solidFill>
                      <a:srgbClr val="A7A7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Публичная (Интернет)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Частная (операторская)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Локальная (LAN)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1450" marL="152400" anchor="ctr">
                    <a:noFill/>
                  </a:tcPr>
                </a:tc>
              </a:tr>
              <a:tr h="101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/>
                        <a:t>Основная цель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91450" anchor="ctr">
                    <a:solidFill>
                      <a:srgbClr val="A7A7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Безопасность и доступность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Скорость и управление трафиком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Логическая изоляция в LAN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1450" marL="152400" anchor="ctr">
                    <a:noFill/>
                  </a:tcPr>
                </a:tc>
              </a:tr>
              <a:tr h="101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/>
                        <a:t>Стоимость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91450" anchor="ctr">
                    <a:solidFill>
                      <a:srgbClr val="A7A7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Низкая (общедоступность)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Высокая (операторские услуги)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52400" marL="1524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000"/>
                        <a:t>Низкая (аппаратная)</a:t>
                      </a:r>
                      <a:endParaRPr b="0"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91450" marL="1524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Технологии беспроводного доступа: введение</a:t>
            </a:r>
            <a:endParaRPr b="1"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1261872" y="2066925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Эволюция:</a:t>
            </a:r>
            <a:endParaRPr sz="2400"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От точечных радиосвязей — к повсеместным высокоскоростным сетям.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Драйверы развития: мобильность, IoT, цифровизация.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Две основные группы: локальные (WLAN) и глобальные/сотовые (WWAN).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13232" y="3784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Беспроводные локальные сети (WLAN). Стандарты IEEE 802.11</a:t>
            </a:r>
            <a:endParaRPr b="1"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918972" y="23241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Основное семейство технологий Wi-Fi.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802.11a/g: До 54 Мбит/с (2.4 и 5 ГГц).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802.11n (Wi-Fi 4): MIMO, 2.4/5 ГГц, до 600 Мбит/с.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802.11ac (Wi-Fi 5): Только 5 ГГц, до 6.77 Гбит/с.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802.11ax (Wi-Fi 6/6E): Эффективность в плотных средах, новый диапазон 6 ГГц.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Архитектуры развертывания Wi-Fi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1261872" y="2140903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ru-RU"/>
              <a:t>Автономные точки доступа (Fat AP): Независимое управление.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rPr lang="ru-RU"/>
              <a:t>Управляемые контроллером (Thin AP): Централизованное управление, масштабируемость.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rPr lang="ru-RU"/>
              <a:t>Архитектура: AP + WLC (Wireless LAN Controller).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rPr lang="ru-RU"/>
              <a:t>Облачные решения (Cloud-Managed): Управление через веб-панель, низкие OPEX.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rPr lang="ru-RU"/>
              <a:t>Mesh-сети (Ячеистые): Самоорганизующиеся и самовосстанавливающиеся сети.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Технологии сотовой связи: от 1G до 5G</a:t>
            </a:r>
            <a:endParaRPr b="1"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1261872" y="2506663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1G/2G: аналоговая и цифровая голосовая связь (GSM).</a:t>
            </a:r>
            <a:endParaRPr/>
          </a:p>
          <a:p>
            <a:pPr indent="-45720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3G: пакетная передача данных, мобильный интернет (UMTS, CDMA2000).</a:t>
            </a:r>
            <a:endParaRPr/>
          </a:p>
          <a:p>
            <a:pPr indent="-45720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4G (LTE): полностью IP-ориентированная сеть, высокая скорость (&gt;1 Гбит/с).</a:t>
            </a:r>
            <a:endParaRPr/>
          </a:p>
          <a:p>
            <a:pPr indent="-45720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5G: сверхнизкие задержки (URLLC), массовый IoT (mMTC), гигабитные скорости (eMBB).</a:t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Ключевые особенности 5G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1261872" y="189856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ru-RU" sz="2400"/>
              <a:t>Три основных сценария (ITU):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eMBB (Enhanced Mobile Broadband): виртуальная реальность, 8K-видео.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mMTC (Massive Machine-Type Communications): десятки тысяч IoT-устройств на км².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URLLC (Ultra-Reliable Low-Latency Communications): Беспроводной промышленный интернет, автономный транспорт.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Технологии: Network Slicing, Massive MIMO, миллиметровые волны (mmWave).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Другие технологии беспроводного доступа</a:t>
            </a:r>
            <a:endParaRPr b="1"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1261872" y="28829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Bluetooth (802.15.1): персональные сети (PAN), IoT, аудио.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Zigbee, LoRaWAN, NB-IoT: технологии для Интернета вещей (низкое энергопотребление, дальняя связь).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Спутниковый интернет (Starlink, OneWeb): глобальный доступ в труднодоступных регионах.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Безопасность в беспроводных сетях</a:t>
            </a:r>
            <a:endParaRPr b="1"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1403540" y="2253803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Wi-Fi: эволюция протоколов шифрования (WEP → WPA → WPA2/WPA3).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Сотовые сети: аутентификация по SIM-карте, сильное шифрование (AKA-протоколы).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Общие угрозы: перехват трафика, несанкционированный доступ, DoS-атаки.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Font typeface="Century Schoolbook"/>
              <a:buAutoNum type="arabicPeriod"/>
            </a:pPr>
            <a:r>
              <a:rPr lang="ru-RU" sz="2400"/>
              <a:t>Рекомендации: использование VPN поверх беспроводного соединения, строгая аутентификация.</a:t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735257" y="214224"/>
            <a:ext cx="10194871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1" lang="ru-RU" sz="3600"/>
              <a:t>Конвергенция технологий: Виртуальные каналы + Беспроводной доступ</a:t>
            </a:r>
            <a:endParaRPr b="1" sz="3600"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1081568" y="2292439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SD-WAN поверх 4G/5G: гибкое и отказоустойчивое подключение филиалов.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VPN для удаленных сотрудников: защищенный доступ к корпоративным ресурсам с любого Wi-Fi или через мобильную сеть.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Network Slicing в 5G: создание выделенных виртуальных сетей поверх инфраструктуры оператора для разных задач (свой "слайс" для IoT, свой — для мобильного broadband).</a:t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Тенденции и будущее</a:t>
            </a:r>
            <a:endParaRPr b="1"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1261872" y="2140903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Wi-Fi 7 (802.11be): Скорости до 30+ Гбит/с, детерминированные задержки.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Развитие 5G-Advanced и 6G: Интеграция с ИИ, голографическая связь, тактильный интернет.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Повсеместная виртуализация: vCPE, SD-Branch, облачные сетевые функции (NFV).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Усиление безопасности: Zero Trust Architecture в сочетании с VPN и безопасным беспроводным доступом.</a:t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91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ru-RU"/>
              <a:t>Выводы</a:t>
            </a:r>
            <a:endParaRPr b="1"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1261872" y="1815921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Технологии виртуальных каналов (VPN, MPLS, VLAN) обеспечивают безопасность, изоляцию и гибкость в проводных инфраструктурах.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Технологии беспроводного доступа (Wi-Fi, 4G/5G) обеспечивают мобильность, повсеместность и высокую скорость.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Конвергенция этих технологий создает основу для современных цифровых решений: удаленная работа, IoT, smart-города, индустрия 4.0.</a:t>
            </a:r>
            <a:endParaRPr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920"/>
              <a:buChar char="•"/>
            </a:pPr>
            <a:r>
              <a:rPr lang="ru-RU" sz="2400"/>
              <a:t>Будущее — за интеллектуальными, программно-определяемыми и безопасными гибридными сетями.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914400" y="5418552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</a:pPr>
            <a:r>
              <a:rPr lang="ru-RU"/>
              <a:t>Спасибо за внимание!</a:t>
            </a:r>
            <a:br>
              <a:rPr lang="ru-RU"/>
            </a:br>
            <a:endParaRPr/>
          </a:p>
        </p:txBody>
      </p:sp>
      <p:sp>
        <p:nvSpPr>
          <p:cNvPr id="206" name="Google Shape;206;p32"/>
          <p:cNvSpPr/>
          <p:nvPr>
            <p:ph idx="2" type="pic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