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57EB7EA2-2019-461C-9BD1-779448C851F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009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554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560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493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14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185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098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71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048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915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869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071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90EC39-A874-4717-87C6-A7588DC229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r>
              <a:rPr lang="en-US" dirty="0"/>
              <a:t>PaaS – </a:t>
            </a:r>
            <a:r>
              <a:rPr lang="ru-RU" dirty="0"/>
              <a:t>Платформа как услуга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301DCA5-2428-439A-9912-BD706F328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/>
          </a:bodyPr>
          <a:lstStyle/>
          <a:p>
            <a:endParaRPr lang="ru-RU"/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22DBB7E7-9678-327A-3C92-58417A70FF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974" r="7670" b="-1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9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2760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C43497-F6EF-4C38-AAD0-D93333985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PaaS?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277AA8-E0F7-4C99-AA67-41646D62E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PaaS - </a:t>
            </a:r>
            <a:r>
              <a:rPr lang="ru-RU" dirty="0"/>
              <a:t>готовая облачная платформа для разработки, запуска и управления приложениями.</a:t>
            </a:r>
          </a:p>
          <a:p>
            <a:pPr marL="0" indent="0">
              <a:buNone/>
            </a:pPr>
            <a:r>
              <a:rPr lang="ru-RU" dirty="0"/>
              <a:t>Суть: избавляет от необходимости управлять базовой инфраструктурой (серверами, сетями, хранилищами)</a:t>
            </a:r>
            <a:r>
              <a:rPr lang="en-US" dirty="0"/>
              <a:t>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Ключевая ценность: разработчик фокусируется только на коде и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840052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8AF78A-78CC-4246-AAD9-26D853DB9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входит в </a:t>
            </a:r>
            <a:r>
              <a:rPr lang="en-US" dirty="0"/>
              <a:t>PaaS?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A45682-9802-4F6B-868A-2E2B0E6B5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Среда выполнения: средства для запуска приложения (интерпретаторы, веб-серверы).</a:t>
            </a:r>
          </a:p>
          <a:p>
            <a:r>
              <a:rPr lang="ru-RU" dirty="0"/>
              <a:t>Инструменты разработки: SDK, IDE, средства отладки и тестирования.</a:t>
            </a:r>
          </a:p>
          <a:p>
            <a:r>
              <a:rPr lang="ru-RU" dirty="0"/>
              <a:t>Управляемые сервисы БД: реляционные (</a:t>
            </a:r>
            <a:r>
              <a:rPr lang="ru-RU" dirty="0" err="1"/>
              <a:t>MySQL</a:t>
            </a:r>
            <a:r>
              <a:rPr lang="ru-RU" dirty="0"/>
              <a:t>, </a:t>
            </a:r>
            <a:r>
              <a:rPr lang="ru-RU" dirty="0" err="1"/>
              <a:t>PostgreSQL</a:t>
            </a:r>
            <a:r>
              <a:rPr lang="ru-RU" dirty="0"/>
              <a:t>) и </a:t>
            </a:r>
            <a:r>
              <a:rPr lang="ru-RU" dirty="0" err="1"/>
              <a:t>NoSQL</a:t>
            </a:r>
            <a:r>
              <a:rPr lang="ru-RU" dirty="0"/>
              <a:t> (</a:t>
            </a:r>
            <a:r>
              <a:rPr lang="ru-RU" dirty="0" err="1"/>
              <a:t>Redis</a:t>
            </a:r>
            <a:r>
              <a:rPr lang="ru-RU" dirty="0"/>
              <a:t>, </a:t>
            </a:r>
            <a:r>
              <a:rPr lang="ru-RU" dirty="0" err="1"/>
              <a:t>MongoDB</a:t>
            </a:r>
            <a:r>
              <a:rPr lang="ru-RU" dirty="0"/>
              <a:t>) базы "из коробки".</a:t>
            </a:r>
          </a:p>
          <a:p>
            <a:r>
              <a:rPr lang="ru-RU" dirty="0"/>
              <a:t>Промежуточное ПО: очереди сообщений, сервисы кэширования, брокеры событий.</a:t>
            </a:r>
          </a:p>
          <a:p>
            <a:r>
              <a:rPr lang="ru-RU" dirty="0" err="1"/>
              <a:t>DevOps</a:t>
            </a:r>
            <a:r>
              <a:rPr lang="ru-RU" dirty="0"/>
              <a:t>-инструменты: автоматизация развертывания (CI/CD), мониторинг, логирование.</a:t>
            </a:r>
          </a:p>
        </p:txBody>
      </p:sp>
    </p:spTree>
    <p:extLst>
      <p:ext uri="{BB962C8B-B14F-4D97-AF65-F5344CB8AC3E}">
        <p14:creationId xmlns:p14="http://schemas.microsoft.com/office/powerpoint/2010/main" val="1120997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0B2090-FB87-403D-B994-D291242C8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</a:t>
            </a:r>
            <a:r>
              <a:rPr lang="en-US" dirty="0"/>
              <a:t>PaaS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E91FB6-B6E3-49CF-B897-FD5FEF7D6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Скорость выхода на рынок - быстрое развертывание и масштабирование приложений.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Снижение сложности - нет необходимости администрировать ОС, </a:t>
            </a:r>
            <a:r>
              <a:rPr lang="ru-RU" dirty="0" err="1"/>
              <a:t>middleware</a:t>
            </a:r>
            <a:r>
              <a:rPr lang="ru-RU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Экономическая эффективность - оплата только за используемые ресурсы платформы.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Встроенная масштабируемость - автоматическое горизонтальное и вертикальное масштабирование.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Высокая доступность и безопасность - платформа предоставляет эти функции по умолчанию.</a:t>
            </a:r>
          </a:p>
        </p:txBody>
      </p:sp>
    </p:spTree>
    <p:extLst>
      <p:ext uri="{BB962C8B-B14F-4D97-AF65-F5344CB8AC3E}">
        <p14:creationId xmlns:p14="http://schemas.microsoft.com/office/powerpoint/2010/main" val="3910286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4C7BDD-5170-4586-A9F9-79E1F4432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 и риски </a:t>
            </a:r>
            <a:r>
              <a:rPr lang="en-US" dirty="0"/>
              <a:t>PaaS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0AD8DD-B6AD-451A-8928-14D35570E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 err="1"/>
              <a:t>Vendor</a:t>
            </a:r>
            <a:r>
              <a:rPr lang="ru-RU" dirty="0"/>
              <a:t> </a:t>
            </a:r>
            <a:r>
              <a:rPr lang="ru-RU" dirty="0" err="1"/>
              <a:t>Lock-in</a:t>
            </a:r>
            <a:r>
              <a:rPr lang="ru-RU" dirty="0"/>
              <a:t> (жесткая привязка к инструментам и API конкретного провайдера).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Ограниченный контроль - невозможность тонкой настройки "ниже" уровня платформы.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Ограничения по совместимости - поддержка только определенных языков, фреймворков, версий ПО.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Проблемы безопасности данных - данные хранятся у третьей стороны, что может быть неприемлемо в регулируемых отраслях.</a:t>
            </a:r>
          </a:p>
        </p:txBody>
      </p:sp>
    </p:spTree>
    <p:extLst>
      <p:ext uri="{BB962C8B-B14F-4D97-AF65-F5344CB8AC3E}">
        <p14:creationId xmlns:p14="http://schemas.microsoft.com/office/powerpoint/2010/main" val="875317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A630E5-36B7-431D-93AF-B08744CB9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Типичные сценарии использования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EA6A2C-A6E6-43C0-8ABF-BCB31EB40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Разработка и тестирование: быстрое создание сред для команд.</a:t>
            </a:r>
          </a:p>
          <a:p>
            <a:r>
              <a:rPr lang="ru-RU" dirty="0"/>
              <a:t>Веб-приложения и API: хостинг современных веб-сервисов и мобильных бэкендов.</a:t>
            </a:r>
          </a:p>
          <a:p>
            <a:r>
              <a:rPr lang="ru-RU" dirty="0"/>
              <a:t>Обработка данных и аналитика: использование встроенных сервисов для потоковой обработки или пакетных заданий.</a:t>
            </a:r>
          </a:p>
          <a:p>
            <a:r>
              <a:rPr lang="ru-RU" dirty="0" err="1"/>
              <a:t>IoT</a:t>
            </a:r>
            <a:r>
              <a:rPr lang="ru-RU" dirty="0"/>
              <a:t>: обработка и анализ данных с устройств.</a:t>
            </a:r>
          </a:p>
        </p:txBody>
      </p:sp>
    </p:spTree>
    <p:extLst>
      <p:ext uri="{BB962C8B-B14F-4D97-AF65-F5344CB8AC3E}">
        <p14:creationId xmlns:p14="http://schemas.microsoft.com/office/powerpoint/2010/main" val="2544169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443ECC-933C-406D-8216-5B4993BCD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</a:t>
            </a:r>
            <a:r>
              <a:rPr lang="en-US" dirty="0"/>
              <a:t>PaaS-</a:t>
            </a:r>
            <a:r>
              <a:rPr lang="ru-RU" dirty="0"/>
              <a:t>провайдеров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6E3FA6-8EB0-4D41-9366-5B87C40DB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Heroku: </a:t>
            </a:r>
            <a:r>
              <a:rPr lang="ru-RU" dirty="0"/>
              <a:t>классика </a:t>
            </a:r>
            <a:r>
              <a:rPr lang="en-US" dirty="0"/>
              <a:t>PaaS </a:t>
            </a:r>
            <a:r>
              <a:rPr lang="ru-RU" dirty="0"/>
              <a:t>для разработчиков.</a:t>
            </a:r>
          </a:p>
          <a:p>
            <a:r>
              <a:rPr lang="en-US" dirty="0"/>
              <a:t>Google App Engine: </a:t>
            </a:r>
            <a:r>
              <a:rPr lang="ru-RU" dirty="0"/>
              <a:t>управляемая платформа от </a:t>
            </a:r>
            <a:r>
              <a:rPr lang="en-US" dirty="0"/>
              <a:t>Google.</a:t>
            </a:r>
          </a:p>
          <a:p>
            <a:r>
              <a:rPr lang="en-US" dirty="0"/>
              <a:t>Microsoft Azure App Service: </a:t>
            </a:r>
            <a:r>
              <a:rPr lang="ru-RU" dirty="0"/>
              <a:t>платформа для веб-приложений и </a:t>
            </a:r>
            <a:r>
              <a:rPr lang="en-US" dirty="0"/>
              <a:t>API.</a:t>
            </a:r>
          </a:p>
          <a:p>
            <a:r>
              <a:rPr lang="en-US" dirty="0"/>
              <a:t>Red Hat OpenShift: </a:t>
            </a:r>
            <a:r>
              <a:rPr lang="ru-RU" dirty="0"/>
              <a:t>гибридная </a:t>
            </a:r>
            <a:r>
              <a:rPr lang="en-US" dirty="0"/>
              <a:t>PaaS-</a:t>
            </a:r>
            <a:r>
              <a:rPr lang="ru-RU" dirty="0"/>
              <a:t>платформа на базе </a:t>
            </a:r>
            <a:r>
              <a:rPr lang="en-US" dirty="0"/>
              <a:t>Kubernetes.</a:t>
            </a:r>
          </a:p>
        </p:txBody>
      </p:sp>
    </p:spTree>
    <p:extLst>
      <p:ext uri="{BB962C8B-B14F-4D97-AF65-F5344CB8AC3E}">
        <p14:creationId xmlns:p14="http://schemas.microsoft.com/office/powerpoint/2010/main" val="1515260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90EC39-A874-4717-87C6-A7588DC229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r>
              <a:rPr lang="en-US" dirty="0"/>
              <a:t>IaaS – </a:t>
            </a:r>
            <a:r>
              <a:rPr lang="ru-RU" dirty="0"/>
              <a:t>Инфраструктура как услуга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301DCA5-2428-439A-9912-BD706F328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/>
          </a:bodyPr>
          <a:lstStyle/>
          <a:p>
            <a:endParaRPr lang="ru-RU"/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22DBB7E7-9678-327A-3C92-58417A70FF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974" r="7670" b="-1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670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DB1AB0-9A5C-4644-B5CE-A7C8EB1B8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IaaS?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B2D338-FD86-462D-A185-ED9386D16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IaaS - </a:t>
            </a:r>
            <a:r>
              <a:rPr lang="ru-RU" dirty="0"/>
              <a:t>предоставление фундаментальных вычислительных ресурсов через Интернет: виртуальные серверы, сети, хранилища.</a:t>
            </a:r>
          </a:p>
          <a:p>
            <a:pPr marL="0" indent="0">
              <a:buNone/>
            </a:pPr>
            <a:r>
              <a:rPr lang="ru-RU" dirty="0"/>
              <a:t>Суть: полный контроль над ОС, ПО и сетевыми настройками. Ответственность за инфраструктуру разделена с провайдером.</a:t>
            </a:r>
          </a:p>
          <a:p>
            <a:pPr marL="0" indent="0">
              <a:buNone/>
            </a:pPr>
            <a:r>
              <a:rPr lang="ru-RU" dirty="0"/>
              <a:t>Ключевая ценность: гибкость и контроль "железного" уровня без капитальных затрат.</a:t>
            </a:r>
          </a:p>
        </p:txBody>
      </p:sp>
    </p:spTree>
    <p:extLst>
      <p:ext uri="{BB962C8B-B14F-4D97-AF65-F5344CB8AC3E}">
        <p14:creationId xmlns:p14="http://schemas.microsoft.com/office/powerpoint/2010/main" val="1169230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34032F-AA54-494A-9641-64ECC59ED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входит в </a:t>
            </a:r>
            <a:r>
              <a:rPr lang="en-US" dirty="0"/>
              <a:t>IaaS?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C1CE51-3408-4D82-8455-5831DF9C7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Виртуальные машины: вычислительные комплексы с выбором ОС (</a:t>
            </a:r>
            <a:r>
              <a:rPr lang="en-US" dirty="0"/>
              <a:t>Windows, Linux).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Облачные хранилища: блочные, файловые.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Сетевые ресурсы: виртуальные сети (</a:t>
            </a:r>
            <a:r>
              <a:rPr lang="en-US" dirty="0"/>
              <a:t>VPC), </a:t>
            </a:r>
            <a:r>
              <a:rPr lang="ru-RU" dirty="0"/>
              <a:t>балансировщики нагрузки, </a:t>
            </a:r>
            <a:r>
              <a:rPr lang="en-US" dirty="0"/>
              <a:t>DNS</a:t>
            </a:r>
            <a:r>
              <a:rPr lang="en-US" altLang="ja-JP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Аппаратные средства безопасности: виртуальные аппаратные модули безопасности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0542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C8A804-7362-4965-8C1A-40F0A623C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</a:t>
            </a:r>
            <a:r>
              <a:rPr lang="en-US" dirty="0"/>
              <a:t>IaaS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A88078-8217-4EED-8783-6D8355D6C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Максимальная гибкость: полный контроль над стеком технологий.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Масштабируемость: быстрое добавление или удаление ВМ и дисков.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Экономия: переход от капитальных к операционным расходам (оплата по мере использования).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Повышение отказоустойчивости: возможность легко создавать распределенные и резервированные системы.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Быстрое развертывание тестовых и финальных сред.</a:t>
            </a:r>
          </a:p>
        </p:txBody>
      </p:sp>
    </p:spTree>
    <p:extLst>
      <p:ext uri="{BB962C8B-B14F-4D97-AF65-F5344CB8AC3E}">
        <p14:creationId xmlns:p14="http://schemas.microsoft.com/office/powerpoint/2010/main" val="1730278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102B39-60B2-4B15-B91D-3892C9C20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 и риски </a:t>
            </a:r>
            <a:r>
              <a:rPr lang="en-US" dirty="0"/>
              <a:t>IaaS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BBD2EE-8DFE-4AB3-BE4D-4993C88DA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Высокая ответственность пользователя: необходимо администрировать ОС, ПО, данные, приложения.</a:t>
            </a:r>
          </a:p>
          <a:p>
            <a:r>
              <a:rPr lang="ru-RU" dirty="0"/>
              <a:t>Более высокие эксплуатационные затраты: требуется штат квалифицированных администраторов.</a:t>
            </a:r>
          </a:p>
          <a:p>
            <a:r>
              <a:rPr lang="ru-RU" dirty="0"/>
              <a:t>Сложность управления: ручное или скриптовое масштабирование может быть сложной задачей.</a:t>
            </a:r>
          </a:p>
          <a:p>
            <a:r>
              <a:rPr lang="ru-RU" dirty="0"/>
              <a:t>Непредсказуемые затраты: при неправильном управлении ресурсами счет может сильно вырасти.</a:t>
            </a:r>
          </a:p>
        </p:txBody>
      </p:sp>
    </p:spTree>
    <p:extLst>
      <p:ext uri="{BB962C8B-B14F-4D97-AF65-F5344CB8AC3E}">
        <p14:creationId xmlns:p14="http://schemas.microsoft.com/office/powerpoint/2010/main" val="3443029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8931FB-2445-44E6-9F3C-CD8BAD739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Типичные сценарии использования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99F26D-7474-43AE-9CF9-3D1AA8AD3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Хостинг нестандартных приложений, требующих полного контроля.</a:t>
            </a:r>
          </a:p>
          <a:p>
            <a:r>
              <a:rPr lang="ru-RU" dirty="0"/>
              <a:t>Хранение и резервное копирование больших объемов данных.</a:t>
            </a:r>
          </a:p>
          <a:p>
            <a:r>
              <a:rPr lang="ru-RU" dirty="0"/>
              <a:t>Создание сред для тестирования и разработки.</a:t>
            </a:r>
          </a:p>
          <a:p>
            <a:r>
              <a:rPr lang="ru-RU" dirty="0"/>
              <a:t>Высокопроизводительные вычисления и масштабные рабочие нагрузки.</a:t>
            </a:r>
          </a:p>
          <a:p>
            <a:r>
              <a:rPr lang="ru-RU" dirty="0"/>
              <a:t>Миграция локальных инфраструктур.</a:t>
            </a:r>
          </a:p>
        </p:txBody>
      </p:sp>
    </p:spTree>
    <p:extLst>
      <p:ext uri="{BB962C8B-B14F-4D97-AF65-F5344CB8AC3E}">
        <p14:creationId xmlns:p14="http://schemas.microsoft.com/office/powerpoint/2010/main" val="4226928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79716-376E-44A7-8D02-37138A43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</a:t>
            </a:r>
            <a:r>
              <a:rPr lang="en-US" dirty="0"/>
              <a:t>IaaS-</a:t>
            </a:r>
            <a:r>
              <a:rPr lang="ru-RU" dirty="0"/>
              <a:t>провайдеров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593FE7-A1FD-451F-AB85-D71F741A2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Amazon Web Services: </a:t>
            </a:r>
            <a:r>
              <a:rPr lang="ru-RU" dirty="0"/>
              <a:t>лидер и самый широкий спектр услуг.</a:t>
            </a:r>
          </a:p>
          <a:p>
            <a:r>
              <a:rPr lang="en-US" dirty="0"/>
              <a:t>Microsoft Azure (Virtual Machines): </a:t>
            </a:r>
            <a:r>
              <a:rPr lang="ru-RU" dirty="0"/>
              <a:t>сильная интеграция с экосистемой </a:t>
            </a:r>
            <a:r>
              <a:rPr lang="en-US" dirty="0"/>
              <a:t>Microsoft.</a:t>
            </a:r>
          </a:p>
          <a:p>
            <a:r>
              <a:rPr lang="en-US" dirty="0"/>
              <a:t>Google Cloud Platform (Compute Engine): </a:t>
            </a:r>
            <a:r>
              <a:rPr lang="ru-RU" dirty="0"/>
              <a:t>мощные технологии в области данных и </a:t>
            </a:r>
            <a:r>
              <a:rPr lang="en-US" dirty="0"/>
              <a:t>ML.</a:t>
            </a:r>
          </a:p>
          <a:p>
            <a:r>
              <a:rPr lang="en-US" dirty="0"/>
              <a:t>Alibaba Cloud: </a:t>
            </a:r>
            <a:r>
              <a:rPr lang="ru-RU" dirty="0"/>
              <a:t>крупнейший провайдер в Азиатско-Тихоокеанском регионе.</a:t>
            </a:r>
          </a:p>
          <a:p>
            <a:r>
              <a:rPr lang="ru-RU" dirty="0"/>
              <a:t>Отечественные: </a:t>
            </a:r>
            <a:r>
              <a:rPr lang="en-US" dirty="0"/>
              <a:t>Yandex Cloud, </a:t>
            </a:r>
            <a:r>
              <a:rPr lang="en-US" dirty="0" err="1"/>
              <a:t>Selectel</a:t>
            </a:r>
            <a:r>
              <a:rPr lang="en-US" dirty="0"/>
              <a:t>, MTS Cloud, VK Cloud Solutions.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24060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639</Words>
  <Application>Microsoft Office PowerPoint</Application>
  <PresentationFormat>Широкоэкранный</PresentationFormat>
  <Paragraphs>65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Calisto MT</vt:lpstr>
      <vt:lpstr>Univers Condensed</vt:lpstr>
      <vt:lpstr>ChronicleVTI</vt:lpstr>
      <vt:lpstr>PaaS – Платформа как услуга</vt:lpstr>
      <vt:lpstr>Что такое PaaS?</vt:lpstr>
      <vt:lpstr>Что входит в PaaS?</vt:lpstr>
      <vt:lpstr>Преимущества PaaS</vt:lpstr>
      <vt:lpstr>Недостатки и риски PaaS</vt:lpstr>
      <vt:lpstr>Типичные сценарии использования</vt:lpstr>
      <vt:lpstr>Примеры PaaS-провайдеров</vt:lpstr>
      <vt:lpstr>IaaS – Инфраструктура как услуга</vt:lpstr>
      <vt:lpstr>Что такое IaaS?</vt:lpstr>
      <vt:lpstr>Что входит в IaaS?</vt:lpstr>
      <vt:lpstr>Преимущества IaaS</vt:lpstr>
      <vt:lpstr>Недостатки и риски IaaS</vt:lpstr>
      <vt:lpstr>Типичные сценарии использования</vt:lpstr>
      <vt:lpstr>Примеры IaaS-провайдеров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PaaS – Платформа как услуга</dc:title>
  <dc:creator>ryzen_pomogi</dc:creator>
  <cp:lastModifiedBy>ryzen_pomogi</cp:lastModifiedBy>
  <cp:revision>1</cp:revision>
  <dcterms:created xsi:type="dcterms:W3CDTF">2026-02-09T17:52:21Z</dcterms:created>
  <dcterms:modified xsi:type="dcterms:W3CDTF">2026-02-09T18:21:38Z</dcterms:modified>
</cp:coreProperties>
</file>