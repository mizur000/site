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/>
              <a:t>Визуальное представление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Время выполнения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Лист1!$A$2:$A$4</c:f>
              <c:strCache>
                <c:ptCount val="3"/>
                <c:pt idx="0">
                  <c:v>system("cls")</c:v>
                </c:pt>
                <c:pt idx="1">
                  <c:v>cout x2000</c:v>
                </c:pt>
                <c:pt idx="2">
                  <c:v>Буфер экрана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5000</c:v>
                </c:pt>
                <c:pt idx="1">
                  <c:v>20000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95-47A1-833D-58C617E1A9C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Мерцание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Лист1!$A$2:$A$4</c:f>
              <c:strCache>
                <c:ptCount val="3"/>
                <c:pt idx="0">
                  <c:v>system("cls")</c:v>
                </c:pt>
                <c:pt idx="1">
                  <c:v>cout x2000</c:v>
                </c:pt>
                <c:pt idx="2">
                  <c:v>Буфер экрана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4000</c:v>
                </c:pt>
                <c:pt idx="1">
                  <c:v>8000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95-47A1-833D-58C617E1A9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88020352"/>
        <c:axId val="1849606016"/>
      </c:barChart>
      <c:catAx>
        <c:axId val="48802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49606016"/>
        <c:crosses val="autoZero"/>
        <c:auto val="1"/>
        <c:lblAlgn val="ctr"/>
        <c:lblOffset val="100"/>
        <c:noMultiLvlLbl val="0"/>
      </c:catAx>
      <c:valAx>
        <c:axId val="1849606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802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80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1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9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0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54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3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01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96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7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5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E78E6B-ACEB-4DF9-A6B2-610179A91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67754" y="1466849"/>
            <a:ext cx="4824244" cy="1686897"/>
          </a:xfrm>
        </p:spPr>
        <p:txBody>
          <a:bodyPr>
            <a:normAutofit/>
          </a:bodyPr>
          <a:lstStyle/>
          <a:p>
            <a:r>
              <a:rPr lang="ru-RU" sz="4400" dirty="0"/>
              <a:t>Работа с буфером экрана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4A05E06-7962-4F59-9C5C-D505154A0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0630" y="6171872"/>
            <a:ext cx="4824244" cy="409904"/>
          </a:xfrm>
        </p:spPr>
        <p:txBody>
          <a:bodyPr>
            <a:normAutofit/>
          </a:bodyPr>
          <a:lstStyle/>
          <a:p>
            <a:pPr algn="l"/>
            <a:r>
              <a:rPr lang="ru-RU" sz="1600" dirty="0"/>
              <a:t>Дисциплина: Системное программирование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CFB00B-BE7B-36C7-6735-BC98292B0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19" r="-2" b="-2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8089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97AAEE-9547-48CA-9D92-FC5936EC0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занятия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821AAF-375E-4538-B296-6F24BB8D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Понять</a:t>
            </a:r>
            <a:r>
              <a:rPr lang="ru-RU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Почему </a:t>
            </a:r>
            <a:r>
              <a:rPr lang="en-US" dirty="0" err="1"/>
              <a:t>cout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system("</a:t>
            </a:r>
            <a:r>
              <a:rPr lang="en-US" dirty="0" err="1"/>
              <a:t>cls</a:t>
            </a:r>
            <a:r>
              <a:rPr lang="en-US" dirty="0"/>
              <a:t>") </a:t>
            </a:r>
            <a:r>
              <a:rPr lang="ru-RU" dirty="0"/>
              <a:t>вызывают мерцание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Как работает буфер экрана и пакетный вывод через </a:t>
            </a:r>
            <a:r>
              <a:rPr lang="en-US" dirty="0" err="1"/>
              <a:t>WinAPI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Зачем нужны </a:t>
            </a:r>
            <a:r>
              <a:rPr lang="en-US" dirty="0"/>
              <a:t>HANDLE, COORD </a:t>
            </a:r>
            <a:r>
              <a:rPr lang="ru-RU" dirty="0"/>
              <a:t>и </a:t>
            </a:r>
            <a:r>
              <a:rPr lang="en-US" dirty="0" err="1"/>
              <a:t>FillConsoleOutputCharacter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Научиться</a:t>
            </a:r>
            <a:r>
              <a:rPr lang="ru-RU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Получать дескриптор консоли и размеры экрана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Очищать экран одной функцией без мерцания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Создавать плавную анимацию в консоли</a:t>
            </a:r>
          </a:p>
        </p:txBody>
      </p:sp>
    </p:spTree>
    <p:extLst>
      <p:ext uri="{BB962C8B-B14F-4D97-AF65-F5344CB8AC3E}">
        <p14:creationId xmlns:p14="http://schemas.microsoft.com/office/powerpoint/2010/main" val="159208926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33508-FE03-4A19-A0FA-D38B5A9F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— медленный вывод и мерцание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6A3D61-30F5-43D8-86E2-21B41DEA1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6" y="1335536"/>
            <a:ext cx="8093203" cy="85621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Что происходит при использовании </a:t>
            </a:r>
            <a:r>
              <a:rPr lang="ru-RU" dirty="0" err="1"/>
              <a:t>cout</a:t>
            </a:r>
            <a:r>
              <a:rPr lang="ru-RU" dirty="0"/>
              <a:t> или </a:t>
            </a:r>
            <a:r>
              <a:rPr lang="ru-RU" dirty="0" err="1"/>
              <a:t>printf</a:t>
            </a:r>
            <a:r>
              <a:rPr lang="ru-RU" dirty="0"/>
              <a:t>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0E50DF-53DF-47F2-8907-BFD2E50C9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74" y="1874980"/>
            <a:ext cx="3990975" cy="178775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8305EE-2300-44A0-8A63-083437FF2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198" y="1586285"/>
            <a:ext cx="2979859" cy="4152900"/>
          </a:xfrm>
          <a:prstGeom prst="rect">
            <a:avLst/>
          </a:prstGeom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EB9DB07-AE16-4C22-A914-4C974B099B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823925"/>
              </p:ext>
            </p:extLst>
          </p:nvPr>
        </p:nvGraphicFramePr>
        <p:xfrm>
          <a:off x="668274" y="4360889"/>
          <a:ext cx="7247002" cy="1981200"/>
        </p:xfrm>
        <a:graphic>
          <a:graphicData uri="http://schemas.openxmlformats.org/drawingml/2006/table">
            <a:tbl>
              <a:tblPr/>
              <a:tblGrid>
                <a:gridCol w="1701478">
                  <a:extLst>
                    <a:ext uri="{9D8B030D-6E8A-4147-A177-3AD203B41FA5}">
                      <a16:colId xmlns:a16="http://schemas.microsoft.com/office/drawing/2014/main" val="3729670881"/>
                    </a:ext>
                  </a:extLst>
                </a:gridCol>
                <a:gridCol w="5545524">
                  <a:extLst>
                    <a:ext uri="{9D8B030D-6E8A-4147-A177-3AD203B41FA5}">
                      <a16:colId xmlns:a16="http://schemas.microsoft.com/office/drawing/2014/main" val="1969036070"/>
                    </a:ext>
                  </a:extLst>
                </a:gridCol>
              </a:tblGrid>
              <a:tr h="429015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Последствие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Почему так происходит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245868"/>
                  </a:ext>
                </a:extLst>
              </a:tr>
              <a:tr h="274763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Мерцание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Экран перерисовывается 20+ раз в секунду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1647"/>
                  </a:ext>
                </a:extLst>
              </a:tr>
              <a:tr h="429015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Тормоза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Каждый 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cout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 — 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обращение к системе</a:t>
                      </a:r>
                      <a:endParaRPr lang="en-US" sz="16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370214"/>
                  </a:ext>
                </a:extLst>
              </a:tr>
              <a:tr h="583268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Высокая загрузка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CPU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Постоянные системные вызовы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000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07A687-E051-412A-80BD-E8EA8DA4B841}"/>
              </a:ext>
            </a:extLst>
          </p:cNvPr>
          <p:cNvSpPr txBox="1"/>
          <p:nvPr/>
        </p:nvSpPr>
        <p:spPr>
          <a:xfrm>
            <a:off x="668274" y="3762083"/>
            <a:ext cx="2979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Результат:</a:t>
            </a:r>
          </a:p>
        </p:txBody>
      </p:sp>
    </p:spTree>
    <p:extLst>
      <p:ext uri="{BB962C8B-B14F-4D97-AF65-F5344CB8AC3E}">
        <p14:creationId xmlns:p14="http://schemas.microsoft.com/office/powerpoint/2010/main" val="258192468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A1DD6F-D835-467D-9635-F3F76B40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буфер экрана?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316F0E-678D-4C66-8ECD-AEBCBE53A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769"/>
            <a:ext cx="6357761" cy="4593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Буфер экрана (</a:t>
            </a:r>
            <a:r>
              <a:rPr lang="ru-RU" sz="1800" b="1" dirty="0" err="1"/>
              <a:t>Console</a:t>
            </a:r>
            <a:r>
              <a:rPr lang="ru-RU" sz="1800" b="1" dirty="0"/>
              <a:t> </a:t>
            </a:r>
            <a:r>
              <a:rPr lang="ru-RU" sz="1800" b="1" dirty="0" err="1"/>
              <a:t>Screen</a:t>
            </a:r>
            <a:r>
              <a:rPr lang="ru-RU" sz="1800" b="1" dirty="0"/>
              <a:t> </a:t>
            </a:r>
            <a:r>
              <a:rPr lang="ru-RU" sz="1800" b="1" dirty="0" err="1"/>
              <a:t>Buffer</a:t>
            </a:r>
            <a:r>
              <a:rPr lang="ru-RU" sz="1800" b="1" dirty="0"/>
              <a:t>) </a:t>
            </a:r>
            <a:r>
              <a:rPr lang="ru-RU" sz="1800" dirty="0"/>
              <a:t>— это область оперативной памяти, где </a:t>
            </a:r>
            <a:r>
              <a:rPr lang="ru-RU" sz="1800" dirty="0" err="1"/>
              <a:t>Windows</a:t>
            </a:r>
            <a:r>
              <a:rPr lang="ru-RU" sz="1800" dirty="0"/>
              <a:t> хранит матрицу символов и их атрибутов (цвет фона и текста) для консольного окна.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D797614-77A3-43CB-B4E1-3BD07E60C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2" y="2032381"/>
            <a:ext cx="4608806" cy="4013835"/>
          </a:xfrm>
          <a:prstGeom prst="rect">
            <a:avLst/>
          </a:prstGeom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F28907EF-C5AA-4EF0-82E9-93A6EA0EB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293952"/>
              </p:ext>
            </p:extLst>
          </p:nvPr>
        </p:nvGraphicFramePr>
        <p:xfrm>
          <a:off x="612646" y="2390326"/>
          <a:ext cx="6357762" cy="3655890"/>
        </p:xfrm>
        <a:graphic>
          <a:graphicData uri="http://schemas.openxmlformats.org/drawingml/2006/table">
            <a:tbl>
              <a:tblPr/>
              <a:tblGrid>
                <a:gridCol w="2119254">
                  <a:extLst>
                    <a:ext uri="{9D8B030D-6E8A-4147-A177-3AD203B41FA5}">
                      <a16:colId xmlns:a16="http://schemas.microsoft.com/office/drawing/2014/main" val="3539963"/>
                    </a:ext>
                  </a:extLst>
                </a:gridCol>
                <a:gridCol w="2119254">
                  <a:extLst>
                    <a:ext uri="{9D8B030D-6E8A-4147-A177-3AD203B41FA5}">
                      <a16:colId xmlns:a16="http://schemas.microsoft.com/office/drawing/2014/main" val="1835973812"/>
                    </a:ext>
                  </a:extLst>
                </a:gridCol>
                <a:gridCol w="2119254">
                  <a:extLst>
                    <a:ext uri="{9D8B030D-6E8A-4147-A177-3AD203B41FA5}">
                      <a16:colId xmlns:a16="http://schemas.microsoft.com/office/drawing/2014/main" val="643288776"/>
                    </a:ext>
                  </a:extLst>
                </a:gridCol>
              </a:tblGrid>
              <a:tr h="546710">
                <a:tc>
                  <a:txBody>
                    <a:bodyPr/>
                    <a:lstStyle/>
                    <a:p>
                      <a:pPr algn="l"/>
                      <a:r>
                        <a:rPr lang="ru-RU" sz="15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Параметр</a:t>
                      </a:r>
                    </a:p>
                  </a:txBody>
                  <a:tcPr marL="87618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Прямой вывод (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cout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46030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Буферизованный вывод (</a:t>
                      </a:r>
                      <a:r>
                        <a:rPr lang="en-US" sz="1500" b="1" dirty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WinAPI</a:t>
                      </a:r>
                      <a:r>
                        <a:rPr lang="en-US" sz="15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46030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544223"/>
                  </a:ext>
                </a:extLst>
              </a:tr>
              <a:tr h="546710">
                <a:tc>
                  <a:txBody>
                    <a:bodyPr/>
                    <a:lstStyle/>
                    <a:p>
                      <a:r>
                        <a:rPr lang="ru-RU" sz="1500" b="1" dirty="0">
                          <a:effectLst/>
                          <a:latin typeface="quote-cjk-patch"/>
                        </a:rPr>
                        <a:t>Принцип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87618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Поэлементная запись в целевой ресурс</a:t>
                      </a:r>
                    </a:p>
                  </a:txBody>
                  <a:tcPr marL="146030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Пакетная подготовка в промежуточном буфере</a:t>
                      </a:r>
                    </a:p>
                  </a:txBody>
                  <a:tcPr marL="146030" marR="87618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201724"/>
                  </a:ext>
                </a:extLst>
              </a:tr>
              <a:tr h="546710">
                <a:tc>
                  <a:txBody>
                    <a:bodyPr/>
                    <a:lstStyle/>
                    <a:p>
                      <a:r>
                        <a:rPr lang="ru-RU" sz="1500" b="1" dirty="0">
                          <a:effectLst/>
                          <a:latin typeface="quote-cjk-patch"/>
                        </a:rPr>
                        <a:t>Накладные расходы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87618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Высокие (n операций для n элементов)</a:t>
                      </a:r>
                    </a:p>
                  </a:txBody>
                  <a:tcPr marL="146030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Низкие (1 операция на весь буфер)</a:t>
                      </a:r>
                    </a:p>
                  </a:txBody>
                  <a:tcPr marL="146030" marR="87618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789080"/>
                  </a:ext>
                </a:extLst>
              </a:tr>
              <a:tr h="680632">
                <a:tc>
                  <a:txBody>
                    <a:bodyPr/>
                    <a:lstStyle/>
                    <a:p>
                      <a:r>
                        <a:rPr lang="ru-RU" sz="1500" b="1" dirty="0">
                          <a:effectLst/>
                          <a:latin typeface="quote-cjk-patch"/>
                        </a:rPr>
                        <a:t>Визуальные артефакты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87618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Присутствуют (мерцание, частичное отображение)</a:t>
                      </a:r>
                    </a:p>
                  </a:txBody>
                  <a:tcPr marL="146030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Отсутствуют (целостная замена кадра)</a:t>
                      </a:r>
                    </a:p>
                  </a:txBody>
                  <a:tcPr marL="146030" marR="87618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472242"/>
                  </a:ext>
                </a:extLst>
              </a:tr>
              <a:tr h="546710">
                <a:tc>
                  <a:txBody>
                    <a:bodyPr/>
                    <a:lstStyle/>
                    <a:p>
                      <a:r>
                        <a:rPr lang="ru-RU" sz="1500" b="1" dirty="0">
                          <a:effectLst/>
                          <a:latin typeface="quote-cjk-patch"/>
                        </a:rPr>
                        <a:t>Итоговая производительность</a:t>
                      </a:r>
                      <a:endParaRPr lang="ru-RU" sz="1500" b="0" dirty="0">
                        <a:effectLst/>
                        <a:latin typeface="quote-cjk-patch"/>
                      </a:endParaRPr>
                    </a:p>
                  </a:txBody>
                  <a:tcPr marL="87618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>
                          <a:effectLst/>
                          <a:latin typeface="quote-cjk-patch"/>
                        </a:rPr>
                        <a:t>Низкая</a:t>
                      </a:r>
                    </a:p>
                  </a:txBody>
                  <a:tcPr marL="146030" marR="146030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500" b="0" dirty="0"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146030" marR="87618" marT="91269" marB="91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274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62044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DAE91-C895-4D45-B651-5095B5031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HANDLE — </a:t>
            </a:r>
            <a:r>
              <a:rPr lang="ru-RU" dirty="0"/>
              <a:t>дескриптор консоли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7920D4-5354-4F51-B0FD-B57F2C361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20232"/>
            <a:ext cx="7264527" cy="459382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HANDLE</a:t>
            </a:r>
            <a:r>
              <a:rPr lang="ru-RU" dirty="0"/>
              <a:t> — это 64-битное целое число (в современных системах), которое </a:t>
            </a:r>
            <a:r>
              <a:rPr lang="ru-RU" dirty="0" err="1"/>
              <a:t>Windows</a:t>
            </a:r>
            <a:r>
              <a:rPr lang="ru-RU" dirty="0"/>
              <a:t> использует как уникальный идентификатор открытого ресурса.</a:t>
            </a:r>
          </a:p>
          <a:p>
            <a:pPr marL="0" indent="0">
              <a:buNone/>
            </a:pPr>
            <a:r>
              <a:rPr lang="ru-RU" dirty="0"/>
              <a:t>Какие ресурсы идентифицирует </a:t>
            </a:r>
            <a:r>
              <a:rPr lang="en-US" dirty="0"/>
              <a:t>HANDLE: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AF252A0-032C-41D6-8BCF-07AB024CA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452493"/>
              </p:ext>
            </p:extLst>
          </p:nvPr>
        </p:nvGraphicFramePr>
        <p:xfrm>
          <a:off x="733692" y="3039348"/>
          <a:ext cx="5362308" cy="2171700"/>
        </p:xfrm>
        <a:graphic>
          <a:graphicData uri="http://schemas.openxmlformats.org/drawingml/2006/table">
            <a:tbl>
              <a:tblPr/>
              <a:tblGrid>
                <a:gridCol w="1676133">
                  <a:extLst>
                    <a:ext uri="{9D8B030D-6E8A-4147-A177-3AD203B41FA5}">
                      <a16:colId xmlns:a16="http://schemas.microsoft.com/office/drawing/2014/main" val="619113113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32056779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Тип ресурса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Пример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HANDLE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145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Файл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CreateFile("data.txt", ...)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64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Окно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FindWindow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(NULL, "</a:t>
                      </a:r>
                      <a:r>
                        <a:rPr lang="ru-RU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Моё окно")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4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Поток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CreateThread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(...)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435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u="sng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Буфер консоли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GetStdHandle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(STD_OUTPUT_HANDLE)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409954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7457D0-5E4F-4CD9-87AB-26B3E9D3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044" y="3370998"/>
            <a:ext cx="5686425" cy="150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2168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18C2C-2EFC-4333-8CA5-14EB025C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 — </a:t>
            </a:r>
            <a:r>
              <a:rPr lang="ru-RU" dirty="0"/>
              <a:t>система координат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0C65A7-D2D0-41D1-A89F-330C59DEA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47775"/>
            <a:ext cx="6683503" cy="5061585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COORD</a:t>
            </a:r>
            <a:r>
              <a:rPr lang="ru-RU" dirty="0"/>
              <a:t> — это структура в </a:t>
            </a:r>
            <a:r>
              <a:rPr lang="ru-RU" dirty="0" err="1"/>
              <a:t>Windows</a:t>
            </a:r>
            <a:r>
              <a:rPr lang="ru-RU" dirty="0"/>
              <a:t> API, которая хранит координаты ячейки в консольном буфере экрана.</a:t>
            </a:r>
          </a:p>
          <a:p>
            <a:pPr marL="0" indent="0">
              <a:buNone/>
            </a:pPr>
            <a:r>
              <a:rPr lang="ru-RU" dirty="0"/>
              <a:t>Пример использования: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9A444E-55F3-4850-B06A-29A21B708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674" y="1329085"/>
            <a:ext cx="4629150" cy="138216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3E1EA5-458F-44D5-B984-BFCD4B33C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2711248"/>
            <a:ext cx="552355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7565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DD0F9-6FD1-4432-9477-9AD0ADAE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FillConsoleOutputCharacter</a:t>
            </a:r>
            <a:r>
              <a:rPr lang="en-US" dirty="0"/>
              <a:t> — </a:t>
            </a:r>
            <a:r>
              <a:rPr lang="ru-RU" dirty="0"/>
              <a:t>пакетная заливка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81A56E-EA92-4CD8-ADF3-37BA730E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43000"/>
            <a:ext cx="10653579" cy="516636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Прототип функции: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B667CD-3C7D-40C3-B665-130F729A2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1256145"/>
            <a:ext cx="7948613" cy="1710956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722DF5E-0CB2-4255-8C54-E0C71B1EA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762092"/>
              </p:ext>
            </p:extLst>
          </p:nvPr>
        </p:nvGraphicFramePr>
        <p:xfrm>
          <a:off x="612646" y="3136190"/>
          <a:ext cx="8627115" cy="3004080"/>
        </p:xfrm>
        <a:graphic>
          <a:graphicData uri="http://schemas.openxmlformats.org/drawingml/2006/table">
            <a:tbl>
              <a:tblPr/>
              <a:tblGrid>
                <a:gridCol w="2471739">
                  <a:extLst>
                    <a:ext uri="{9D8B030D-6E8A-4147-A177-3AD203B41FA5}">
                      <a16:colId xmlns:a16="http://schemas.microsoft.com/office/drawing/2014/main" val="2629037685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630672215"/>
                    </a:ext>
                  </a:extLst>
                </a:gridCol>
                <a:gridCol w="2783526">
                  <a:extLst>
                    <a:ext uri="{9D8B030D-6E8A-4147-A177-3AD203B41FA5}">
                      <a16:colId xmlns:a16="http://schemas.microsoft.com/office/drawing/2014/main" val="2730369843"/>
                    </a:ext>
                  </a:extLst>
                </a:gridCol>
              </a:tblGrid>
              <a:tr h="31792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  <a:latin typeface="quote-cjk-patch"/>
                        </a:rPr>
                        <a:t>Параметр</a:t>
                      </a:r>
                    </a:p>
                  </a:txBody>
                  <a:tcPr marL="84269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  <a:latin typeface="quote-cjk-patch"/>
                        </a:rPr>
                        <a:t>Значение</a:t>
                      </a:r>
                    </a:p>
                  </a:txBody>
                  <a:tcPr marL="140448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  <a:latin typeface="quote-cjk-patch"/>
                        </a:rPr>
                        <a:t>Пример</a:t>
                      </a:r>
                    </a:p>
                  </a:txBody>
                  <a:tcPr marL="140448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0415159"/>
                  </a:ext>
                </a:extLst>
              </a:tr>
              <a:tr h="511011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effectLst/>
                          <a:latin typeface="quote-cjk-patch"/>
                        </a:rPr>
                        <a:t>hConsoleOutput</a:t>
                      </a:r>
                      <a:endParaRPr lang="en-US" sz="1600" b="1" dirty="0">
                        <a:effectLst/>
                        <a:latin typeface="quote-cjk-patch"/>
                      </a:endParaRPr>
                    </a:p>
                  </a:txBody>
                  <a:tcPr marL="84269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Дескриптор, полученный через 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GetStdHandle</a:t>
                      </a:r>
                    </a:p>
                  </a:txBody>
                  <a:tcPr marL="140448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hConsole</a:t>
                      </a:r>
                    </a:p>
                  </a:txBody>
                  <a:tcPr marL="140448" marR="84269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185403"/>
                  </a:ext>
                </a:extLst>
              </a:tr>
              <a:tr h="649329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effectLst/>
                          <a:latin typeface="quote-cjk-patch"/>
                        </a:rPr>
                        <a:t>cCharacter</a:t>
                      </a:r>
                      <a:endParaRPr lang="en-US" sz="1600" b="1" dirty="0">
                        <a:effectLst/>
                        <a:latin typeface="quote-cjk-patch"/>
                      </a:endParaRPr>
                    </a:p>
                  </a:txBody>
                  <a:tcPr marL="84269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Один символ, который будет скопирован многократно</a:t>
                      </a:r>
                    </a:p>
                  </a:txBody>
                  <a:tcPr marL="140448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' ' (пробел), '#', '*'</a:t>
                      </a:r>
                    </a:p>
                  </a:txBody>
                  <a:tcPr marL="140448" marR="84269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645637"/>
                  </a:ext>
                </a:extLst>
              </a:tr>
              <a:tr h="372692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nLength</a:t>
                      </a:r>
                    </a:p>
                  </a:txBody>
                  <a:tcPr marL="84269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Сколько ячеек заполнить</a:t>
                      </a:r>
                    </a:p>
                  </a:txBody>
                  <a:tcPr marL="140448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80 * 25 (весь экран)</a:t>
                      </a:r>
                    </a:p>
                  </a:txBody>
                  <a:tcPr marL="140448" marR="84269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659287"/>
                  </a:ext>
                </a:extLst>
              </a:tr>
              <a:tr h="372692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dwWriteCoord</a:t>
                      </a:r>
                    </a:p>
                  </a:txBody>
                  <a:tcPr marL="84269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Стартовая позиция</a:t>
                      </a:r>
                    </a:p>
                  </a:txBody>
                  <a:tcPr marL="140448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{0, 0} (левый верхний угол)</a:t>
                      </a:r>
                    </a:p>
                  </a:txBody>
                  <a:tcPr marL="140448" marR="84269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493423"/>
                  </a:ext>
                </a:extLst>
              </a:tr>
              <a:tr h="379558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effectLst/>
                          <a:latin typeface="quote-cjk-patch"/>
                        </a:rPr>
                        <a:t>lpNumberOfCharsWritten</a:t>
                      </a:r>
                      <a:endParaRPr lang="en-US" sz="1600" b="1" dirty="0">
                        <a:effectLst/>
                        <a:latin typeface="quote-cjk-patch"/>
                      </a:endParaRPr>
                    </a:p>
                  </a:txBody>
                  <a:tcPr marL="84269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Адрес переменной для результата</a:t>
                      </a:r>
                    </a:p>
                  </a:txBody>
                  <a:tcPr marL="140448" marR="140448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quote-cjk-patch"/>
                        </a:rPr>
                        <a:t>&amp;written</a:t>
                      </a:r>
                    </a:p>
                  </a:txBody>
                  <a:tcPr marL="140448" marR="84269" marT="87780" marB="877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87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4697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DD0F9-6FD1-4432-9477-9AD0ADAE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1236452" cy="1132258"/>
          </a:xfrm>
        </p:spPr>
        <p:txBody>
          <a:bodyPr>
            <a:normAutofit/>
          </a:bodyPr>
          <a:lstStyle/>
          <a:p>
            <a:r>
              <a:rPr lang="en-US" sz="3400" dirty="0" err="1"/>
              <a:t>FillConsoleOutputCharacter</a:t>
            </a:r>
            <a:r>
              <a:rPr lang="en-US" sz="3400" dirty="0"/>
              <a:t> — </a:t>
            </a:r>
            <a:r>
              <a:rPr lang="ru-RU" sz="3400" dirty="0"/>
              <a:t>пример использования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4EE9DBB-FEEE-4D6F-B7D2-512C607BB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784" y="1352550"/>
            <a:ext cx="7830431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9163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4E265-9ED1-488A-92D0-5779B83E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размеров буфера экрана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BA85F-1C6A-444C-956A-CB2BD578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71575"/>
            <a:ext cx="10653579" cy="513778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Функция </a:t>
            </a:r>
            <a:r>
              <a:rPr lang="en-US" dirty="0" err="1"/>
              <a:t>GetConsoleScreenBufferInfo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Структура </a:t>
            </a:r>
            <a:r>
              <a:rPr lang="en-US" dirty="0"/>
              <a:t>CONSOLE_SCREEN_BUFFER_INFO: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DDBEDA-52C4-4BA9-9E63-C694CEF35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6" y="1680898"/>
            <a:ext cx="9001125" cy="147674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653191-B748-49D1-B3AE-16082758B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6" y="3666968"/>
            <a:ext cx="7807454" cy="238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6622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F4E265-9ED1-488A-92D0-5779B83EA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размеров буфера экрана (пример)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BA85F-1C6A-444C-956A-CB2BD578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71575"/>
            <a:ext cx="10653579" cy="513778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25F74F-9EB6-4694-A693-7F0FF4CF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4" y="3596495"/>
            <a:ext cx="6426329" cy="2950990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E9A9C62-C646-4249-A5A9-D981C9FF5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612339"/>
              </p:ext>
            </p:extLst>
          </p:nvPr>
        </p:nvGraphicFramePr>
        <p:xfrm>
          <a:off x="764047" y="1171575"/>
          <a:ext cx="7061994" cy="2849880"/>
        </p:xfrm>
        <a:graphic>
          <a:graphicData uri="http://schemas.openxmlformats.org/drawingml/2006/table">
            <a:tbl>
              <a:tblPr/>
              <a:tblGrid>
                <a:gridCol w="3140491">
                  <a:extLst>
                    <a:ext uri="{9D8B030D-6E8A-4147-A177-3AD203B41FA5}">
                      <a16:colId xmlns:a16="http://schemas.microsoft.com/office/drawing/2014/main" val="2957468077"/>
                    </a:ext>
                  </a:extLst>
                </a:gridCol>
                <a:gridCol w="3921503">
                  <a:extLst>
                    <a:ext uri="{9D8B030D-6E8A-4147-A177-3AD203B41FA5}">
                      <a16:colId xmlns:a16="http://schemas.microsoft.com/office/drawing/2014/main" val="915914605"/>
                    </a:ext>
                  </a:extLst>
                </a:gridCol>
              </a:tblGrid>
              <a:tr h="335912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  <a:latin typeface="quote-cjk-patch"/>
                        </a:rPr>
                        <a:t>Строка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  <a:latin typeface="quote-cjk-patch"/>
                        </a:rPr>
                        <a:t>Что происходит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606746"/>
                  </a:ext>
                </a:extLst>
              </a:tr>
              <a:tr h="414504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  <a:latin typeface="quote-cjk-patch"/>
                        </a:rPr>
                        <a:t>GetStdHandle</a:t>
                      </a:r>
                      <a:r>
                        <a:rPr lang="en-US" sz="1400" b="1" dirty="0">
                          <a:effectLst/>
                          <a:latin typeface="quote-cjk-patch"/>
                        </a:rPr>
                        <a:t>(STD_OUTPUT_HANDLE)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Получаем </a:t>
                      </a:r>
                      <a:r>
                        <a:rPr lang="ru-RU" sz="1600" b="0" dirty="0" err="1">
                          <a:effectLst/>
                          <a:latin typeface="quote-cjk-patch"/>
                        </a:rPr>
                        <a:t>handle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 консоли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463502"/>
                  </a:ext>
                </a:extLst>
              </a:tr>
              <a:tr h="524494">
                <a:tc>
                  <a:txBody>
                    <a:bodyPr/>
                    <a:lstStyle/>
                    <a:p>
                      <a:r>
                        <a:rPr lang="it-IT" sz="1400" b="1" dirty="0">
                          <a:effectLst/>
                          <a:latin typeface="quote-cjk-patch"/>
                        </a:rPr>
                        <a:t>CONSOLE_SCREEN_BUFFER_INFO csbi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Создаём структуру для хранения информации о буфере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231558"/>
                  </a:ext>
                </a:extLst>
              </a:tr>
              <a:tr h="414504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  <a:latin typeface="quote-cjk-patch"/>
                        </a:rPr>
                        <a:t>GetConsoleScreenBufferInfo</a:t>
                      </a:r>
                      <a:r>
                        <a:rPr lang="en-US" sz="1400" b="1" dirty="0">
                          <a:effectLst/>
                          <a:latin typeface="quote-cjk-patch"/>
                        </a:rPr>
                        <a:t>(...)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Запрашиваем информацию о консоли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78332"/>
                  </a:ext>
                </a:extLst>
              </a:tr>
              <a:tr h="414504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  <a:latin typeface="quote-cjk-patch"/>
                        </a:rPr>
                        <a:t>csbi.dwSize.X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Забираем </a:t>
                      </a:r>
                      <a:r>
                        <a:rPr lang="ru-RU" sz="1600" b="1" dirty="0">
                          <a:effectLst/>
                          <a:latin typeface="quote-cjk-patch"/>
                        </a:rPr>
                        <a:t>ширину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 буфера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465486"/>
                  </a:ext>
                </a:extLst>
              </a:tr>
              <a:tr h="335912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effectLst/>
                          <a:latin typeface="quote-cjk-patch"/>
                        </a:rPr>
                        <a:t>csbi.dwSize.Y</a:t>
                      </a:r>
                      <a:endParaRPr lang="en-US" sz="1400" b="1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Забираем </a:t>
                      </a:r>
                      <a:r>
                        <a:rPr lang="ru-RU" sz="1600" b="1" dirty="0">
                          <a:effectLst/>
                          <a:latin typeface="quote-cjk-patch"/>
                        </a:rPr>
                        <a:t>высоту</a:t>
                      </a:r>
                      <a:r>
                        <a:rPr lang="ru-RU" sz="1600" b="0" dirty="0">
                          <a:effectLst/>
                          <a:latin typeface="quote-cjk-patch"/>
                        </a:rPr>
                        <a:t> буфера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544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8454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89913-1050-4014-964E-D34B9185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быстрой очистки экрана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7F0C4C-898E-40FA-BCD0-FD36F25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425"/>
            <a:ext cx="10653579" cy="519493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Плохой способ (НЕ ИСПОЛЬЗОВАТЬ):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Хороший способ (</a:t>
            </a:r>
            <a:r>
              <a:rPr lang="en-US" dirty="0" err="1"/>
              <a:t>WinAPI</a:t>
            </a:r>
            <a:r>
              <a:rPr lang="en-US" dirty="0"/>
              <a:t>):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892B2D-EDF7-4CA8-A4AC-E6BF2C615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21" y="1680898"/>
            <a:ext cx="7466517" cy="121470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02569E8-0754-41DE-B0BE-AECA871F1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1" y="3581875"/>
            <a:ext cx="10653578" cy="286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9855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89913-1050-4014-964E-D34B9185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1131677" cy="1132258"/>
          </a:xfrm>
        </p:spPr>
        <p:txBody>
          <a:bodyPr/>
          <a:lstStyle/>
          <a:p>
            <a:r>
              <a:rPr lang="ru-RU" dirty="0"/>
              <a:t>Реализация быстрой очистки экрана (преимущества)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7F0C4C-898E-40FA-BCD0-FD36F25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14425"/>
            <a:ext cx="10653579" cy="5194935"/>
          </a:xfrm>
        </p:spPr>
        <p:txBody>
          <a:bodyPr/>
          <a:lstStyle/>
          <a:p>
            <a:pPr marL="0" indent="0">
              <a:buNone/>
            </a:pPr>
            <a:r>
              <a:rPr lang="ru-RU" sz="2400" b="1" dirty="0"/>
              <a:t>Почему это быстро: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0854C42-69B6-4414-B917-AB07A53CD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33424"/>
              </p:ext>
            </p:extLst>
          </p:nvPr>
        </p:nvGraphicFramePr>
        <p:xfrm>
          <a:off x="1755976" y="1788081"/>
          <a:ext cx="8366919" cy="3281838"/>
        </p:xfrm>
        <a:graphic>
          <a:graphicData uri="http://schemas.openxmlformats.org/drawingml/2006/table">
            <a:tbl>
              <a:tblPr/>
              <a:tblGrid>
                <a:gridCol w="2788973">
                  <a:extLst>
                    <a:ext uri="{9D8B030D-6E8A-4147-A177-3AD203B41FA5}">
                      <a16:colId xmlns:a16="http://schemas.microsoft.com/office/drawing/2014/main" val="2112940634"/>
                    </a:ext>
                  </a:extLst>
                </a:gridCol>
                <a:gridCol w="2788973">
                  <a:extLst>
                    <a:ext uri="{9D8B030D-6E8A-4147-A177-3AD203B41FA5}">
                      <a16:colId xmlns:a16="http://schemas.microsoft.com/office/drawing/2014/main" val="2647986748"/>
                    </a:ext>
                  </a:extLst>
                </a:gridCol>
                <a:gridCol w="2788973">
                  <a:extLst>
                    <a:ext uri="{9D8B030D-6E8A-4147-A177-3AD203B41FA5}">
                      <a16:colId xmlns:a16="http://schemas.microsoft.com/office/drawing/2014/main" val="2665516138"/>
                    </a:ext>
                  </a:extLst>
                </a:gridCol>
              </a:tblGrid>
              <a:tr h="568728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latin typeface="quote-cjk-patch"/>
                        </a:rPr>
                        <a:t>Операция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  <a:latin typeface="quote-cjk-patch"/>
                        </a:rPr>
                        <a:t>Что происходит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  <a:latin typeface="quote-cjk-patch"/>
                        </a:rPr>
                        <a:t>Время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77998"/>
                  </a:ext>
                </a:extLst>
              </a:tr>
              <a:tr h="90437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system("</a:t>
                      </a:r>
                      <a:r>
                        <a:rPr lang="en-US" b="1" dirty="0" err="1">
                          <a:effectLst/>
                          <a:latin typeface="quote-cjk-patch"/>
                        </a:rPr>
                        <a:t>cls</a:t>
                      </a:r>
                      <a:r>
                        <a:rPr lang="en-US" b="1" dirty="0">
                          <a:effectLst/>
                          <a:latin typeface="quote-cjk-patch"/>
                        </a:rPr>
                        <a:t>")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Создание процесса </a:t>
                      </a:r>
                      <a:r>
                        <a:rPr lang="en-US" b="0">
                          <a:effectLst/>
                          <a:latin typeface="quote-cjk-patch"/>
                        </a:rPr>
                        <a:t>cmd.exe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~50 мс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21933"/>
                  </a:ext>
                </a:extLst>
              </a:tr>
              <a:tr h="90437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Цикл из 2000 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cout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2000 системных вызовов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~200 мс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985932"/>
                  </a:ext>
                </a:extLst>
              </a:tr>
              <a:tr h="904370">
                <a:tc>
                  <a:txBody>
                    <a:bodyPr/>
                    <a:lstStyle/>
                    <a:p>
                      <a:r>
                        <a:rPr lang="en-US" b="1" dirty="0" err="1">
                          <a:effectLst/>
                          <a:latin typeface="quote-cjk-patch"/>
                        </a:rPr>
                        <a:t>FillConsoleOutputCharacter</a:t>
                      </a:r>
                      <a:endParaRPr lang="en-US" b="1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1 системный вызов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&lt;1 </a:t>
                      </a:r>
                      <a:r>
                        <a:rPr lang="ru-RU" b="1" dirty="0" err="1">
                          <a:effectLst/>
                          <a:latin typeface="quote-cjk-patch"/>
                        </a:rPr>
                        <a:t>мс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39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31764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3B1A5D-DBF9-4FAC-8E8E-D97C2F06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производительности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0DB28D4-5512-46C9-996C-86B9B6A414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8180688"/>
              </p:ext>
            </p:extLst>
          </p:nvPr>
        </p:nvGraphicFramePr>
        <p:xfrm>
          <a:off x="612512" y="1393031"/>
          <a:ext cx="5540376" cy="2956560"/>
        </p:xfrm>
        <a:graphic>
          <a:graphicData uri="http://schemas.openxmlformats.org/drawingml/2006/table">
            <a:tbl>
              <a:tblPr/>
              <a:tblGrid>
                <a:gridCol w="1184031">
                  <a:extLst>
                    <a:ext uri="{9D8B030D-6E8A-4147-A177-3AD203B41FA5}">
                      <a16:colId xmlns:a16="http://schemas.microsoft.com/office/drawing/2014/main" val="2429438391"/>
                    </a:ext>
                  </a:extLst>
                </a:gridCol>
                <a:gridCol w="1452115">
                  <a:extLst>
                    <a:ext uri="{9D8B030D-6E8A-4147-A177-3AD203B41FA5}">
                      <a16:colId xmlns:a16="http://schemas.microsoft.com/office/drawing/2014/main" val="3009547211"/>
                    </a:ext>
                  </a:extLst>
                </a:gridCol>
                <a:gridCol w="1294767">
                  <a:extLst>
                    <a:ext uri="{9D8B030D-6E8A-4147-A177-3AD203B41FA5}">
                      <a16:colId xmlns:a16="http://schemas.microsoft.com/office/drawing/2014/main" val="2797604944"/>
                    </a:ext>
                  </a:extLst>
                </a:gridCol>
                <a:gridCol w="1609463">
                  <a:extLst>
                    <a:ext uri="{9D8B030D-6E8A-4147-A177-3AD203B41FA5}">
                      <a16:colId xmlns:a16="http://schemas.microsoft.com/office/drawing/2014/main" val="4248607954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  <a:latin typeface="quote-cjk-patch"/>
                        </a:rPr>
                        <a:t>Метод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effectLst/>
                          <a:latin typeface="quote-cjk-patch"/>
                        </a:rPr>
                        <a:t>Время выполнения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>
                          <a:effectLst/>
                          <a:latin typeface="quote-cjk-patch"/>
                        </a:rPr>
                        <a:t>Мерцание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0" dirty="0">
                          <a:effectLst/>
                          <a:latin typeface="quote-cjk-patch"/>
                        </a:rPr>
                        <a:t>Нагрузка на </a:t>
                      </a:r>
                      <a:r>
                        <a:rPr lang="en-US" sz="1600" b="0" dirty="0">
                          <a:effectLst/>
                          <a:latin typeface="quote-cjk-patch"/>
                        </a:rPr>
                        <a:t>CPU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93073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  <a:latin typeface="quote-cjk-patch"/>
                        </a:rPr>
                        <a:t>system("cls")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~5000 мс (5 сек)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Сильное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Высокая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097748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Цикл </a:t>
                      </a:r>
                      <a:r>
                        <a:rPr lang="en-US" sz="1600" b="1" dirty="0" err="1">
                          <a:effectLst/>
                          <a:latin typeface="quote-cjk-patch"/>
                        </a:rPr>
                        <a:t>cout</a:t>
                      </a:r>
                      <a:r>
                        <a:rPr lang="en-US" sz="1600" b="1" dirty="0">
                          <a:effectLst/>
                          <a:latin typeface="quote-cjk-patch"/>
                        </a:rPr>
                        <a:t> 2000 </a:t>
                      </a:r>
                      <a:r>
                        <a:rPr lang="ru-RU" sz="1600" b="1" dirty="0">
                          <a:effectLst/>
                          <a:latin typeface="quote-cjk-patch"/>
                        </a:rPr>
                        <a:t>раз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~20000 мс (20 сек)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Очень сильное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Очень высокая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26521"/>
                  </a:ext>
                </a:extLst>
              </a:tr>
              <a:tr h="739140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effectLst/>
                          <a:latin typeface="quote-cjk-patch"/>
                        </a:rPr>
                        <a:t>FillConsoleOutputCharacter</a:t>
                      </a:r>
                      <a:endParaRPr lang="en-US" sz="1600" b="1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~50 </a:t>
                      </a:r>
                      <a:r>
                        <a:rPr lang="ru-RU" sz="1600" b="1" dirty="0" err="1">
                          <a:effectLst/>
                          <a:latin typeface="quote-cjk-patch"/>
                        </a:rPr>
                        <a:t>мс</a:t>
                      </a:r>
                      <a:r>
                        <a:rPr lang="ru-RU" sz="1600" b="1" dirty="0">
                          <a:effectLst/>
                          <a:latin typeface="quote-cjk-patch"/>
                        </a:rPr>
                        <a:t> (0.05 сек)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Нет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Минимальная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215688"/>
                  </a:ext>
                </a:extLst>
              </a:tr>
            </a:tbl>
          </a:graphicData>
        </a:graphic>
      </p:graphicFrame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753953AD-F1D6-4A07-89AE-66DC849D5C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4499117"/>
              </p:ext>
            </p:extLst>
          </p:nvPr>
        </p:nvGraphicFramePr>
        <p:xfrm>
          <a:off x="6318250" y="2696316"/>
          <a:ext cx="5540375" cy="36130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161094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A45D0-A57E-46F0-9ABC-F88D80733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Практическое применение и выводы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E1CD68F-0EDD-4CFC-9D5F-020B33014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668537"/>
              </p:ext>
            </p:extLst>
          </p:nvPr>
        </p:nvGraphicFramePr>
        <p:xfrm>
          <a:off x="5829300" y="1885950"/>
          <a:ext cx="6138069" cy="2849880"/>
        </p:xfrm>
        <a:graphic>
          <a:graphicData uri="http://schemas.openxmlformats.org/drawingml/2006/table">
            <a:tbl>
              <a:tblPr/>
              <a:tblGrid>
                <a:gridCol w="2394963">
                  <a:extLst>
                    <a:ext uri="{9D8B030D-6E8A-4147-A177-3AD203B41FA5}">
                      <a16:colId xmlns:a16="http://schemas.microsoft.com/office/drawing/2014/main" val="475829120"/>
                    </a:ext>
                  </a:extLst>
                </a:gridCol>
                <a:gridCol w="3743106">
                  <a:extLst>
                    <a:ext uri="{9D8B030D-6E8A-4147-A177-3AD203B41FA5}">
                      <a16:colId xmlns:a16="http://schemas.microsoft.com/office/drawing/2014/main" val="2433285997"/>
                    </a:ext>
                  </a:extLst>
                </a:gridCol>
              </a:tblGrid>
              <a:tr h="386107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  <a:latin typeface="quote-cjk-patch"/>
                        </a:rPr>
                        <a:t>Область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  <a:latin typeface="quote-cjk-patch"/>
                        </a:rPr>
                        <a:t>Примеры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788953"/>
                  </a:ext>
                </a:extLst>
              </a:tr>
              <a:tr h="386107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Консольные игры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Змейка, тетрис, </a:t>
                      </a:r>
                      <a:r>
                        <a:rPr lang="en-US" sz="1600" b="0">
                          <a:effectLst/>
                          <a:latin typeface="quote-cjk-patch"/>
                        </a:rPr>
                        <a:t>roguelike RPG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42073"/>
                  </a:ext>
                </a:extLst>
              </a:tr>
              <a:tr h="386107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Системные утилиты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Менеджеры задач, мониторы ресурсов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420232"/>
                  </a:ext>
                </a:extLst>
              </a:tr>
              <a:tr h="38610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Текстовые редакторы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effectLst/>
                          <a:latin typeface="quote-cjk-patch"/>
                        </a:rPr>
                        <a:t>Far Manager, Midnight Commander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741501"/>
                  </a:ext>
                </a:extLst>
              </a:tr>
              <a:tr h="386107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  <a:latin typeface="quote-cjk-patch"/>
                        </a:rPr>
                        <a:t>Анимация в </a:t>
                      </a:r>
                      <a:r>
                        <a:rPr lang="en-US" sz="1600" b="1">
                          <a:effectLst/>
                          <a:latin typeface="quote-cjk-patch"/>
                        </a:rPr>
                        <a:t>CLI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>
                          <a:effectLst/>
                          <a:latin typeface="quote-cjk-patch"/>
                        </a:rPr>
                        <a:t>Загрузочные экраны, прогресс-бары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31018"/>
                  </a:ext>
                </a:extLst>
              </a:tr>
              <a:tr h="386107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  <a:latin typeface="quote-cjk-patch"/>
                        </a:rPr>
                        <a:t>Образовательные проекты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effectLst/>
                          <a:latin typeface="quote-cjk-patch"/>
                        </a:rPr>
                        <a:t>Изучение работы ОС на низком уровне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6012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1CB620-CC9A-4591-A819-0257945C0C9D}"/>
              </a:ext>
            </a:extLst>
          </p:cNvPr>
          <p:cNvSpPr txBox="1"/>
          <p:nvPr/>
        </p:nvSpPr>
        <p:spPr>
          <a:xfrm>
            <a:off x="714375" y="1438275"/>
            <a:ext cx="43148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000" b="1" dirty="0" err="1"/>
              <a:t>cout</a:t>
            </a:r>
            <a:r>
              <a:rPr lang="ru-RU" sz="2000" dirty="0"/>
              <a:t> и </a:t>
            </a:r>
            <a:r>
              <a:rPr lang="ru-RU" sz="2000" b="1" dirty="0" err="1"/>
              <a:t>printf</a:t>
            </a:r>
            <a:r>
              <a:rPr lang="ru-RU" sz="2000" dirty="0"/>
              <a:t> хороши для вывода текста, но непригодны для анимации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 err="1"/>
              <a:t>WinAPI</a:t>
            </a:r>
            <a:r>
              <a:rPr lang="ru-RU" sz="2000" dirty="0"/>
              <a:t> даёт полный контроль над консолью через </a:t>
            </a:r>
            <a:r>
              <a:rPr lang="ru-RU" sz="2000" b="1" dirty="0"/>
              <a:t>HANDLE</a:t>
            </a:r>
            <a:r>
              <a:rPr lang="ru-RU" sz="2000" dirty="0"/>
              <a:t> и </a:t>
            </a:r>
            <a:r>
              <a:rPr lang="ru-RU" sz="2000" b="1" dirty="0"/>
              <a:t>COORD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 err="1"/>
              <a:t>FillConsoleOutputCharacter</a:t>
            </a:r>
            <a:r>
              <a:rPr lang="ru-RU" sz="2000" dirty="0"/>
              <a:t> — главный инструмент для пакетного вывода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1" dirty="0" err="1"/>
              <a:t>GetConsoleScreenBufferInfo</a:t>
            </a:r>
            <a:r>
              <a:rPr lang="ru-RU" sz="2000" dirty="0"/>
              <a:t> — обязателен для написания переносимого кода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CEE511-6DDD-4B67-993C-780586F51EA1}"/>
              </a:ext>
            </a:extLst>
          </p:cNvPr>
          <p:cNvSpPr txBox="1"/>
          <p:nvPr/>
        </p:nvSpPr>
        <p:spPr>
          <a:xfrm>
            <a:off x="5829300" y="1362075"/>
            <a:ext cx="411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Практическое применение:</a:t>
            </a:r>
          </a:p>
        </p:txBody>
      </p:sp>
    </p:spTree>
    <p:extLst>
      <p:ext uri="{BB962C8B-B14F-4D97-AF65-F5344CB8AC3E}">
        <p14:creationId xmlns:p14="http://schemas.microsoft.com/office/powerpoint/2010/main" val="512752538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ru-RU" b="1" dirty="0"/>
              <a:t>Почему </a:t>
            </a:r>
            <a:r>
              <a:rPr lang="ru-RU" b="1" dirty="0" err="1"/>
              <a:t>system</a:t>
            </a:r>
            <a:r>
              <a:rPr lang="ru-RU" b="1" dirty="0"/>
              <a:t>("</a:t>
            </a:r>
            <a:r>
              <a:rPr lang="ru-RU" b="1" dirty="0" err="1"/>
              <a:t>cls</a:t>
            </a:r>
            <a:r>
              <a:rPr lang="ru-RU" b="1" dirty="0"/>
              <a:t>") плохо подходит для анимации?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905729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b="1" dirty="0"/>
              <a:t>Почему </a:t>
            </a:r>
            <a:r>
              <a:rPr lang="ru-RU" b="1" dirty="0" err="1"/>
              <a:t>system</a:t>
            </a:r>
            <a:r>
              <a:rPr lang="ru-RU" b="1" dirty="0"/>
              <a:t>("</a:t>
            </a:r>
            <a:r>
              <a:rPr lang="ru-RU" b="1" dirty="0" err="1"/>
              <a:t>cls</a:t>
            </a:r>
            <a:r>
              <a:rPr lang="ru-RU" b="1" dirty="0"/>
              <a:t>") плохо подходит для анимации?</a:t>
            </a:r>
          </a:p>
          <a:p>
            <a:pPr marL="0" indent="0">
              <a:buNone/>
            </a:pPr>
            <a:r>
              <a:rPr lang="ru-RU" b="1" dirty="0"/>
              <a:t>Ответ:</a:t>
            </a:r>
          </a:p>
          <a:p>
            <a:pPr marL="0" indent="0">
              <a:buNone/>
            </a:pPr>
            <a:r>
              <a:rPr lang="ru-RU" dirty="0" err="1"/>
              <a:t>system</a:t>
            </a:r>
            <a:r>
              <a:rPr lang="ru-RU" dirty="0"/>
              <a:t>("</a:t>
            </a:r>
            <a:r>
              <a:rPr lang="ru-RU" dirty="0" err="1"/>
              <a:t>cls</a:t>
            </a:r>
            <a:r>
              <a:rPr lang="ru-RU" dirty="0"/>
              <a:t>") запускает внешнюю программу cmd.exe с командой </a:t>
            </a:r>
            <a:r>
              <a:rPr lang="ru-RU" dirty="0" err="1"/>
              <a:t>cls</a:t>
            </a:r>
            <a:r>
              <a:rPr lang="ru-RU" dirty="0"/>
              <a:t>. Это приводит к: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Созданию нового процесса — очень дорогая операция (десятки миллисекунд)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Переключению контекста между программами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Полной перерисовке экрана, которая заметна глазу</a:t>
            </a:r>
          </a:p>
          <a:p>
            <a:pPr marL="0" indent="0">
              <a:buNone/>
            </a:pPr>
            <a:r>
              <a:rPr lang="ru-RU" dirty="0"/>
              <a:t>Для анимации нужно 30–60 кадров в секунду. </a:t>
            </a:r>
            <a:r>
              <a:rPr lang="ru-RU" dirty="0" err="1"/>
              <a:t>system</a:t>
            </a:r>
            <a:r>
              <a:rPr lang="ru-RU" dirty="0"/>
              <a:t>("</a:t>
            </a:r>
            <a:r>
              <a:rPr lang="ru-RU" dirty="0" err="1"/>
              <a:t>cls</a:t>
            </a:r>
            <a:r>
              <a:rPr lang="ru-RU" dirty="0"/>
              <a:t>") просто не успевает — отсюда тормоза и мерцание.</a:t>
            </a:r>
          </a:p>
        </p:txBody>
      </p:sp>
    </p:spTree>
    <p:extLst>
      <p:ext uri="{BB962C8B-B14F-4D97-AF65-F5344CB8AC3E}">
        <p14:creationId xmlns:p14="http://schemas.microsoft.com/office/powerpoint/2010/main" val="299028411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2. Какую функцию использовать вместо </a:t>
            </a:r>
            <a:r>
              <a:rPr lang="ru-RU" b="1" dirty="0" err="1"/>
              <a:t>system</a:t>
            </a:r>
            <a:r>
              <a:rPr lang="ru-RU" b="1" dirty="0"/>
              <a:t>("</a:t>
            </a:r>
            <a:r>
              <a:rPr lang="ru-RU" b="1" dirty="0" err="1"/>
              <a:t>cls</a:t>
            </a:r>
            <a:r>
              <a:rPr lang="ru-RU" b="1" dirty="0"/>
              <a:t>") для быстрой очистки экрана?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81162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2. Какую функцию использовать вместо </a:t>
            </a:r>
            <a:r>
              <a:rPr lang="ru-RU" b="1" dirty="0" err="1"/>
              <a:t>system</a:t>
            </a:r>
            <a:r>
              <a:rPr lang="ru-RU" b="1" dirty="0"/>
              <a:t>("</a:t>
            </a:r>
            <a:r>
              <a:rPr lang="ru-RU" b="1" dirty="0" err="1"/>
              <a:t>cls</a:t>
            </a:r>
            <a:r>
              <a:rPr lang="ru-RU" b="1" dirty="0"/>
              <a:t>") для быстрой очистки экрана?</a:t>
            </a:r>
          </a:p>
          <a:p>
            <a:pPr marL="0" indent="0">
              <a:buNone/>
            </a:pPr>
            <a:r>
              <a:rPr lang="ru-RU" b="1" dirty="0"/>
              <a:t>Ответ:</a:t>
            </a:r>
          </a:p>
          <a:p>
            <a:pPr marL="0" indent="0">
              <a:buNone/>
            </a:pPr>
            <a:r>
              <a:rPr lang="ru-RU" dirty="0" err="1"/>
              <a:t>FillConsoleOutputCharacter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Она заполняет буфер консоли указанным символом (например, пробелом) за один системный вызов, без запуска внешних процессов.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B08890-7B63-4C56-B59F-6F69E3A48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4333875"/>
            <a:ext cx="10102978" cy="127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1384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3. Как узнать реальный размер консоли (ширину и высоту), чтобы код работал на любом экране?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0573151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3. Как узнать реальный размер консоли (ширину и высоту), чтобы код работал на любом экране?</a:t>
            </a:r>
          </a:p>
          <a:p>
            <a:pPr marL="0" indent="0">
              <a:buNone/>
            </a:pPr>
            <a:r>
              <a:rPr lang="ru-RU" b="1" dirty="0"/>
              <a:t>Ответ:</a:t>
            </a:r>
          </a:p>
          <a:p>
            <a:pPr marL="0" indent="0">
              <a:buNone/>
            </a:pPr>
            <a:r>
              <a:rPr lang="ru-RU" dirty="0"/>
              <a:t>Использовать функцию </a:t>
            </a:r>
            <a:r>
              <a:rPr lang="en-US" dirty="0" err="1"/>
              <a:t>GetConsoleScreenBufferInfo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C7B28C-3374-4C2D-8A57-3BEC9806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3667125"/>
            <a:ext cx="6324600" cy="252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98158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4. Что такое HANDLE и зачем он нужен для работы с консолью?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5005799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8A4C0-EFCF-4B2B-9941-F05678B6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 для закрепления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6A420B-50F2-402E-86D5-3DCD3459A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4. Что такое HANDLE и зачем он нужен для работы с консолью?</a:t>
            </a:r>
          </a:p>
          <a:p>
            <a:pPr marL="0" indent="0">
              <a:buNone/>
            </a:pPr>
            <a:r>
              <a:rPr lang="ru-RU" b="1" dirty="0"/>
              <a:t>Ответ:</a:t>
            </a:r>
          </a:p>
          <a:p>
            <a:pPr marL="0" indent="0">
              <a:buNone/>
            </a:pPr>
            <a:r>
              <a:rPr lang="ru-RU" dirty="0"/>
              <a:t>HANDLE (дескриптор) — это уникальный идентификатор (число), который </a:t>
            </a:r>
            <a:r>
              <a:rPr lang="ru-RU" dirty="0" err="1"/>
              <a:t>Windows</a:t>
            </a:r>
            <a:r>
              <a:rPr lang="ru-RU" dirty="0"/>
              <a:t> выдаёт программе для доступа к системному ресурсу.</a:t>
            </a:r>
          </a:p>
          <a:p>
            <a:pPr marL="0" indent="0">
              <a:buNone/>
            </a:pPr>
            <a:r>
              <a:rPr lang="ru-RU" dirty="0"/>
              <a:t>Для работы с консолью нужно сначала получить HANDLE через </a:t>
            </a:r>
            <a:r>
              <a:rPr lang="ru-RU" dirty="0" err="1"/>
              <a:t>GetStdHandle</a:t>
            </a:r>
            <a:r>
              <a:rPr lang="ru-RU" dirty="0"/>
              <a:t>(STD_OUTPUT_HANDLE). Без него </a:t>
            </a:r>
            <a:r>
              <a:rPr lang="ru-RU" dirty="0" err="1"/>
              <a:t>Windows</a:t>
            </a:r>
            <a:r>
              <a:rPr lang="ru-RU" dirty="0"/>
              <a:t> не знает, к какой консоли вы обращаетесь.</a:t>
            </a:r>
          </a:p>
        </p:txBody>
      </p:sp>
    </p:spTree>
    <p:extLst>
      <p:ext uri="{BB962C8B-B14F-4D97-AF65-F5344CB8AC3E}">
        <p14:creationId xmlns:p14="http://schemas.microsoft.com/office/powerpoint/2010/main" val="165582597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894</Words>
  <Application>Microsoft Office PowerPoint</Application>
  <PresentationFormat>Широкоэкранный</PresentationFormat>
  <Paragraphs>181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Neue Haas Grotesk Text Pro</vt:lpstr>
      <vt:lpstr>quote-cjk-patch</vt:lpstr>
      <vt:lpstr>Wingdings</vt:lpstr>
      <vt:lpstr>VanillaVTI</vt:lpstr>
      <vt:lpstr>Работа с буфером экрана</vt:lpstr>
      <vt:lpstr>Цели занятия</vt:lpstr>
      <vt:lpstr>Проблема — медленный вывод и мерцание</vt:lpstr>
      <vt:lpstr>Что такое буфер экрана?</vt:lpstr>
      <vt:lpstr>HANDLE — дескриптор консоли</vt:lpstr>
      <vt:lpstr>COORD — система координат</vt:lpstr>
      <vt:lpstr>FillConsoleOutputCharacter — пакетная заливка</vt:lpstr>
      <vt:lpstr>FillConsoleOutputCharacter — пример использования</vt:lpstr>
      <vt:lpstr>Получение размеров буфера экрана</vt:lpstr>
      <vt:lpstr>Получение размеров буфера экрана (пример)</vt:lpstr>
      <vt:lpstr>Реализация быстрой очистки экрана</vt:lpstr>
      <vt:lpstr>Реализация быстрой очистки экрана (преимущества)</vt:lpstr>
      <vt:lpstr>Сравнение производительности</vt:lpstr>
      <vt:lpstr>Практическое применение и выводы</vt:lpstr>
      <vt:lpstr>Вопросы для закрепления</vt:lpstr>
      <vt:lpstr>Вопросы для закрепления</vt:lpstr>
      <vt:lpstr>Вопросы для закрепления</vt:lpstr>
      <vt:lpstr>Вопросы для закрепления</vt:lpstr>
      <vt:lpstr>Вопросы для закрепления</vt:lpstr>
      <vt:lpstr>Вопросы для закрепления</vt:lpstr>
      <vt:lpstr>Вопросы для закрепления</vt:lpstr>
      <vt:lpstr>Вопросы для закрепления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буфером экрана</dc:title>
  <dc:creator>jjj</dc:creator>
  <cp:lastModifiedBy>jjj</cp:lastModifiedBy>
  <cp:revision>1</cp:revision>
  <dcterms:created xsi:type="dcterms:W3CDTF">2026-04-17T09:54:37Z</dcterms:created>
  <dcterms:modified xsi:type="dcterms:W3CDTF">2026-04-17T14:05:01Z</dcterms:modified>
</cp:coreProperties>
</file>